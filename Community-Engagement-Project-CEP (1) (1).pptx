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embeddedFontLst>
    <p:embeddedFont>
      <p:font typeface="Inter Bold"/>
      <p:regular r:id="rId201314"/>
    </p:embeddedFont>
    <p:embeddedFont>
      <p:font typeface="Inter"/>
      <p:regular r:id="rId201315"/>
    </p:embeddedFont>
    <p:embeddedFont>
      <p:font typeface="Inter Black"/>
      <p:regular r:id="rId201316"/>
    </p:embeddedFont>
    <p:embeddedFont>
      <p:font typeface="Petrona"/>
      <p:regular r:id="rId201317"/>
    </p:embeddedFont>
    <p:embeddedFont>
      <p:font typeface="Petrona Bold"/>
      <p:regular r:id="rId201318"/>
    </p:embeddedFont>
    <p:embeddedFont>
      <p:font typeface="Petrona Black"/>
      <p:regular r:id="rId2013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2E9"/>
          </a:solidFill>
          <a:ln/>
        </p:spPr>
      </p:sp>
      <p:sp>
        <p:nvSpPr>
          <p:cNvPr id="3" name="Shape 1"/>
          <p:cNvSpPr/>
          <p:nvPr/>
        </p:nvSpPr>
        <p:spPr>
          <a:xfrm>
            <a:off x="0" y="0"/>
            <a:ext cx="9144000" cy="5143500"/>
          </a:xfrm>
          <a:prstGeom prst="rect">
            <a:avLst/>
          </a:prstGeom>
          <a:solidFill>
            <a:srgbClr val="FDFAF7"/>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jpeg"/><Relationship Id="rId3" Type="http://schemas.openxmlformats.org/officeDocument/2006/relationships/image" Target="../media/image-5-3.jpe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jpe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svg"/><Relationship Id="rId4" Type="http://schemas.openxmlformats.org/officeDocument/2006/relationships/image" Target="../media/image-8-4.png"/><Relationship Id="rId5" Type="http://schemas.openxmlformats.org/officeDocument/2006/relationships/image" Target="../media/image-8-5.svg"/><Relationship Id="rId6" Type="http://schemas.openxmlformats.org/officeDocument/2006/relationships/image" Target="../media/image-8-6.png"/><Relationship Id="rId7" Type="http://schemas.openxmlformats.org/officeDocument/2006/relationships/image" Target="../media/image-8-7.svg"/><Relationship Id="rId8" Type="http://schemas.openxmlformats.org/officeDocument/2006/relationships/image" Target="../media/image-8-8.png"/><Relationship Id="rId9" Type="http://schemas.openxmlformats.org/officeDocument/2006/relationships/image" Target="../media/image-8-9.svg"/><Relationship Id="rId10" Type="http://schemas.openxmlformats.org/officeDocument/2006/relationships/slideLayout" Target="../slideLayouts/slideLayout2.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96119" y="435620"/>
            <a:ext cx="4722763" cy="715566"/>
          </a:xfrm>
          <a:prstGeom prst="rect">
            <a:avLst/>
          </a:prstGeom>
          <a:noFill/>
          <a:ln/>
        </p:spPr>
        <p:txBody>
          <a:bodyPr wrap="square" lIns="0" tIns="0" rIns="0" bIns="0" rtlCol="0" anchor="t">
            <a:normAutofit/>
          </a:bodyPr>
          <a:lstStyle/>
          <a:p>
            <a:pPr algn="l" indent="0" marL="0">
              <a:lnSpc>
                <a:spcPct val="104000"/>
              </a:lnSpc>
              <a:buNone/>
            </a:pPr>
            <a:r>
              <a:rPr lang="en-US" sz="2250" b="1" dirty="0">
                <a:solidFill>
                  <a:srgbClr val="F95F88"/>
                </a:solidFill>
                <a:latin typeface="Petrona Bold" pitchFamily="34" charset="0"/>
                <a:ea typeface="Petrona Bold" pitchFamily="34" charset="-122"/>
                <a:cs typeface="Petrona Bold" pitchFamily="34" charset="-120"/>
              </a:rPr>
              <a:t>Community Engagement Project (CEP)</a:t>
            </a:r>
            <a:endParaRPr lang="en-US" sz="2250" dirty="0"/>
          </a:p>
        </p:txBody>
      </p:sp>
      <p:sp>
        <p:nvSpPr>
          <p:cNvPr id="4" name="Text 1"/>
          <p:cNvSpPr/>
          <p:nvPr/>
        </p:nvSpPr>
        <p:spPr>
          <a:xfrm>
            <a:off x="496119" y="1181695"/>
            <a:ext cx="4722763" cy="357932"/>
          </a:xfrm>
          <a:prstGeom prst="rect">
            <a:avLst/>
          </a:prstGeom>
          <a:noFill/>
          <a:ln/>
        </p:spPr>
        <p:txBody>
          <a:bodyPr wrap="square" lIns="0" tIns="0" rIns="0" bIns="0" rtlCol="0" anchor="t">
            <a:normAutofit/>
          </a:bodyPr>
          <a:lstStyle/>
          <a:p>
            <a:pPr algn="l" indent="0" marL="0">
              <a:lnSpc>
                <a:spcPct val="104000"/>
              </a:lnSpc>
              <a:buNone/>
            </a:pPr>
            <a:r>
              <a:rPr lang="en-US" sz="1100" b="1" dirty="0">
                <a:solidFill>
                  <a:srgbClr val="F95F88"/>
                </a:solidFill>
                <a:latin typeface="Petrona Bold" pitchFamily="34" charset="0"/>
                <a:ea typeface="Petrona Bold" pitchFamily="34" charset="-122"/>
                <a:cs typeface="Petrona Bold" pitchFamily="34" charset="-120"/>
              </a:rPr>
              <a:t>Nutrition and Hygiene Maintenance: A Study on Food Waste Management in Hostel Mess</a:t>
            </a:r>
            <a:endParaRPr lang="en-US" sz="1100" dirty="0"/>
          </a:p>
        </p:txBody>
      </p:sp>
      <p:sp>
        <p:nvSpPr>
          <p:cNvPr id="5" name="Text 2"/>
          <p:cNvSpPr/>
          <p:nvPr/>
        </p:nvSpPr>
        <p:spPr>
          <a:xfrm>
            <a:off x="496119" y="1654299"/>
            <a:ext cx="4722763" cy="3053507"/>
          </a:xfrm>
          <a:prstGeom prst="rect">
            <a:avLst/>
          </a:prstGeom>
          <a:noFill/>
          <a:ln/>
        </p:spPr>
        <p:txBody>
          <a:bodyPr wrap="square" lIns="0" tIns="0" rIns="0" bIns="0" rtlCol="0" anchor="t"/>
          <a:lstStyle/>
          <a:p>
            <a:pPr algn="l" indent="0" marL="0">
              <a:lnSpc>
                <a:spcPct val="116000"/>
              </a:lnSpc>
              <a:spcAft>
                <a:spcPts val="650"/>
              </a:spcAft>
              <a:buNone/>
            </a:pPr>
            <a:r>
              <a:rPr lang="en-US" sz="800" dirty="0">
                <a:solidFill>
                  <a:srgbClr val="272525"/>
                </a:solidFill>
                <a:latin typeface="Inter" pitchFamily="34" charset="0"/>
                <a:ea typeface="Inter" pitchFamily="34" charset="-122"/>
                <a:cs typeface="Inter" pitchFamily="34" charset="-120"/>
              </a:rPr>
              <a:t>Presented by: </a:t>
            </a:r>
            <a:endParaRPr lang="en-US" sz="800" dirty="0"/>
          </a:p>
          <a:p>
            <a:pPr algn="l" indent="0" marL="0">
              <a:lnSpc>
                <a:spcPct val="116000"/>
              </a:lnSpc>
              <a:spcAft>
                <a:spcPts val="650"/>
              </a:spcAft>
              <a:buNone/>
            </a:pPr>
            <a:r>
              <a:rPr lang="en-US" sz="800" dirty="0">
                <a:solidFill>
                  <a:srgbClr val="272525"/>
                </a:solidFill>
                <a:latin typeface="Inter" pitchFamily="34" charset="0"/>
                <a:ea typeface="Inter" pitchFamily="34" charset="-122"/>
                <a:cs typeface="Inter" pitchFamily="34" charset="-120"/>
              </a:rPr>
              <a:t>1.SANIKA TAVATE          25UAM128</a:t>
            </a:r>
            <a:endParaRPr lang="en-US" sz="800" dirty="0"/>
          </a:p>
          <a:p>
            <a:pPr algn="l" indent="0" marL="0">
              <a:lnSpc>
                <a:spcPct val="116000"/>
              </a:lnSpc>
              <a:spcAft>
                <a:spcPts val="650"/>
              </a:spcAft>
              <a:buNone/>
            </a:pPr>
            <a:r>
              <a:rPr lang="en-US" sz="800" dirty="0">
                <a:solidFill>
                  <a:srgbClr val="272525"/>
                </a:solidFill>
                <a:latin typeface="Inter" pitchFamily="34" charset="0"/>
                <a:ea typeface="Inter" pitchFamily="34" charset="-122"/>
                <a:cs typeface="Inter" pitchFamily="34" charset="-120"/>
              </a:rPr>
              <a:t>2.PRACHI MAJLEKAR   25UAM118</a:t>
            </a:r>
            <a:endParaRPr lang="en-US" sz="800" dirty="0"/>
          </a:p>
          <a:p>
            <a:pPr algn="l" indent="0" marL="0">
              <a:lnSpc>
                <a:spcPct val="116000"/>
              </a:lnSpc>
              <a:spcAft>
                <a:spcPts val="650"/>
              </a:spcAft>
              <a:buNone/>
            </a:pPr>
            <a:r>
              <a:rPr lang="en-US" sz="800" dirty="0">
                <a:solidFill>
                  <a:srgbClr val="272525"/>
                </a:solidFill>
                <a:latin typeface="Inter" pitchFamily="34" charset="0"/>
                <a:ea typeface="Inter" pitchFamily="34" charset="-122"/>
                <a:cs typeface="Inter" pitchFamily="34" charset="-120"/>
              </a:rPr>
              <a:t>3.GAYATRI SANKPAL     25UAM142</a:t>
            </a:r>
            <a:endParaRPr lang="en-US" sz="800" dirty="0"/>
          </a:p>
          <a:p>
            <a:pPr algn="l" indent="0" marL="0">
              <a:lnSpc>
                <a:spcPct val="116000"/>
              </a:lnSpc>
              <a:spcAft>
                <a:spcPts val="650"/>
              </a:spcAft>
              <a:buNone/>
            </a:pPr>
            <a:r>
              <a:rPr lang="en-US" sz="800" dirty="0">
                <a:solidFill>
                  <a:srgbClr val="272525"/>
                </a:solidFill>
                <a:latin typeface="Inter" pitchFamily="34" charset="0"/>
                <a:ea typeface="Inter" pitchFamily="34" charset="-122"/>
                <a:cs typeface="Inter" pitchFamily="34" charset="-120"/>
              </a:rPr>
              <a:t>4.SHREYA BHOSALE      25UAM140</a:t>
            </a:r>
            <a:endParaRPr lang="en-US" sz="800" dirty="0"/>
          </a:p>
          <a:p>
            <a:pPr algn="l" indent="0" marL="0">
              <a:lnSpc>
                <a:spcPct val="116000"/>
              </a:lnSpc>
              <a:spcAft>
                <a:spcPts val="650"/>
              </a:spcAft>
              <a:buNone/>
            </a:pPr>
            <a:r>
              <a:rPr lang="en-US" sz="800" dirty="0">
                <a:solidFill>
                  <a:srgbClr val="272525"/>
                </a:solidFill>
                <a:latin typeface="Inter" pitchFamily="34" charset="0"/>
                <a:ea typeface="Inter" pitchFamily="34" charset="-122"/>
                <a:cs typeface="Inter" pitchFamily="34" charset="-120"/>
              </a:rPr>
              <a:t>5.RUTUJA DHOLE           25UAM079</a:t>
            </a:r>
            <a:endParaRPr lang="en-US" sz="800" dirty="0"/>
          </a:p>
          <a:p>
            <a:pPr algn="l" indent="0" marL="0">
              <a:lnSpc>
                <a:spcPct val="116000"/>
              </a:lnSpc>
              <a:spcAft>
                <a:spcPts val="650"/>
              </a:spcAft>
              <a:buNone/>
            </a:pPr>
            <a:r>
              <a:rPr lang="en-US" sz="800" dirty="0">
                <a:solidFill>
                  <a:srgbClr val="272525"/>
                </a:solidFill>
                <a:latin typeface="Inter" pitchFamily="34" charset="0"/>
                <a:ea typeface="Inter" pitchFamily="34" charset="-122"/>
                <a:cs typeface="Inter" pitchFamily="34" charset="-120"/>
              </a:rPr>
              <a:t>6.RUKAIYYA SHAIKH      25UAM127</a:t>
            </a:r>
            <a:endParaRPr lang="en-US" sz="800" dirty="0"/>
          </a:p>
          <a:p>
            <a:pPr algn="l" indent="0" marL="0">
              <a:lnSpc>
                <a:spcPct val="116000"/>
              </a:lnSpc>
              <a:spcAft>
                <a:spcPts val="650"/>
              </a:spcAft>
              <a:buNone/>
            </a:pPr>
            <a:endParaRPr lang="en-US" sz="800" dirty="0"/>
          </a:p>
          <a:p>
            <a:pPr algn="l" indent="0" marL="0">
              <a:lnSpc>
                <a:spcPct val="116000"/>
              </a:lnSpc>
              <a:spcAft>
                <a:spcPts val="650"/>
              </a:spcAft>
              <a:buNone/>
            </a:pPr>
            <a:r>
              <a:rPr lang="en-US" sz="800" dirty="0">
                <a:solidFill>
                  <a:srgbClr val="272525"/>
                </a:solidFill>
                <a:latin typeface="Inter" pitchFamily="34" charset="0"/>
                <a:ea typeface="Inter" pitchFamily="34" charset="-122"/>
                <a:cs typeface="Inter" pitchFamily="34" charset="-120"/>
              </a:rPr>
              <a:t>DEPARTMENT :  Computer Science &amp; Engineering (AI &amp; ML) — DKTE      Society's Textile &amp; Engineering Institute</a:t>
            </a:r>
            <a:endParaRPr lang="en-US" sz="800" dirty="0"/>
          </a:p>
          <a:p>
            <a:pPr algn="l" indent="0" marL="0">
              <a:lnSpc>
                <a:spcPct val="116000"/>
              </a:lnSpc>
              <a:spcAft>
                <a:spcPts val="650"/>
              </a:spcAft>
              <a:buNone/>
            </a:pPr>
            <a:endParaRPr lang="en-US" sz="800" dirty="0"/>
          </a:p>
          <a:p>
            <a:pPr algn="l" indent="0" marL="0">
              <a:lnSpc>
                <a:spcPct val="116000"/>
              </a:lnSpc>
              <a:spcAft>
                <a:spcPts val="650"/>
              </a:spcAft>
              <a:buNone/>
            </a:pPr>
            <a:r>
              <a:rPr lang="en-US" sz="800" b="1" u="sng" dirty="0">
                <a:solidFill>
                  <a:srgbClr val="272525"/>
                </a:solidFill>
                <a:latin typeface="Inter Bold" pitchFamily="34" charset="0"/>
                <a:ea typeface="Inter Bold" pitchFamily="34" charset="-122"/>
                <a:cs typeface="Inter Bold" pitchFamily="34" charset="-120"/>
              </a:rPr>
              <a:t>Take only what you need, because every grain of food carries someone's hard work !!!!!!!!</a:t>
            </a:r>
            <a:endParaRPr lang="en-US" sz="800" dirty="0"/>
          </a:p>
          <a:p>
            <a:pPr algn="l" indent="0" marL="0">
              <a:lnSpc>
                <a:spcPct val="116000"/>
              </a:lnSpc>
              <a:spcAft>
                <a:spcPts val="650"/>
              </a:spcAft>
              <a:buNone/>
            </a:pP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25119" y="1703487"/>
            <a:ext cx="4722763" cy="389781"/>
          </a:xfrm>
          <a:prstGeom prst="rect">
            <a:avLst/>
          </a:prstGeom>
          <a:noFill/>
          <a:ln/>
        </p:spPr>
        <p:txBody>
          <a:bodyPr wrap="none" lIns="0" tIns="0" rIns="0" bIns="0" rtlCol="0" anchor="t"/>
          <a:lstStyle/>
          <a:p>
            <a:pPr algn="l" indent="0" marL="0">
              <a:lnSpc>
                <a:spcPct val="104000"/>
              </a:lnSpc>
              <a:buNone/>
            </a:pPr>
            <a:r>
              <a:rPr lang="en-US" sz="2450" b="1" dirty="0">
                <a:solidFill>
                  <a:srgbClr val="F95F88"/>
                </a:solidFill>
                <a:latin typeface="Petrona Bold" pitchFamily="34" charset="0"/>
                <a:ea typeface="Petrona Bold" pitchFamily="34" charset="-122"/>
                <a:cs typeface="Petrona Bold" pitchFamily="34" charset="-120"/>
              </a:rPr>
              <a:t>Introduction</a:t>
            </a:r>
            <a:endParaRPr lang="en-US" sz="2450" dirty="0"/>
          </a:p>
        </p:txBody>
      </p:sp>
      <p:sp>
        <p:nvSpPr>
          <p:cNvPr id="4" name="Text 1"/>
          <p:cNvSpPr/>
          <p:nvPr/>
        </p:nvSpPr>
        <p:spPr>
          <a:xfrm>
            <a:off x="3925119" y="2305869"/>
            <a:ext cx="4722763" cy="1134070"/>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Food waste in hostel messes affects nutrition, hygiene, operational cost, and the environment. This study documents how and why edible food is discarded, inspects hygiene practices, and explores practical interventions that reduce waste while preserving meal quality for students.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25119" y="978024"/>
            <a:ext cx="4722763" cy="389781"/>
          </a:xfrm>
          <a:prstGeom prst="rect">
            <a:avLst/>
          </a:prstGeom>
          <a:noFill/>
          <a:ln/>
        </p:spPr>
        <p:txBody>
          <a:bodyPr wrap="none" lIns="0" tIns="0" rIns="0" bIns="0" rtlCol="0" anchor="t"/>
          <a:lstStyle/>
          <a:p>
            <a:pPr algn="l" indent="0" marL="0">
              <a:lnSpc>
                <a:spcPct val="104000"/>
              </a:lnSpc>
              <a:buNone/>
            </a:pPr>
            <a:r>
              <a:rPr lang="en-US" sz="2450" b="1" dirty="0">
                <a:solidFill>
                  <a:srgbClr val="F95F88"/>
                </a:solidFill>
                <a:latin typeface="Petrona Bold" pitchFamily="34" charset="0"/>
                <a:ea typeface="Petrona Bold" pitchFamily="34" charset="-122"/>
                <a:cs typeface="Petrona Bold" pitchFamily="34" charset="-120"/>
              </a:rPr>
              <a:t>Problem Statement &amp; Objectives</a:t>
            </a:r>
            <a:endParaRPr lang="en-US" sz="2450" dirty="0"/>
          </a:p>
        </p:txBody>
      </p:sp>
      <p:sp>
        <p:nvSpPr>
          <p:cNvPr id="4" name="Shape 1"/>
          <p:cNvSpPr/>
          <p:nvPr/>
        </p:nvSpPr>
        <p:spPr>
          <a:xfrm>
            <a:off x="3925119" y="1580406"/>
            <a:ext cx="2290465" cy="2584996"/>
          </a:xfrm>
          <a:prstGeom prst="roundRect">
            <a:avLst>
              <a:gd name="adj" fmla="val 2600"/>
            </a:avLst>
          </a:prstGeom>
          <a:solidFill>
            <a:srgbClr val="E0D7F4"/>
          </a:solidFill>
          <a:ln w="4763">
            <a:solidFill>
              <a:srgbClr val="C6BDDA"/>
            </a:solidFill>
            <a:prstDash val="solid"/>
          </a:ln>
        </p:spPr>
      </p:sp>
      <p:sp>
        <p:nvSpPr>
          <p:cNvPr id="5" name="Text 2"/>
          <p:cNvSpPr/>
          <p:nvPr/>
        </p:nvSpPr>
        <p:spPr>
          <a:xfrm>
            <a:off x="4071640" y="1726927"/>
            <a:ext cx="1997422" cy="243706"/>
          </a:xfrm>
          <a:prstGeom prst="rect">
            <a:avLst/>
          </a:prstGeom>
          <a:noFill/>
          <a:ln/>
        </p:spPr>
        <p:txBody>
          <a:bodyPr wrap="none" lIns="0" tIns="0" rIns="0" bIns="0" rtlCol="0" anchor="t"/>
          <a:lstStyle/>
          <a:p>
            <a:pPr algn="l" indent="0" marL="0">
              <a:lnSpc>
                <a:spcPct val="104000"/>
              </a:lnSpc>
              <a:buNone/>
            </a:pPr>
            <a:r>
              <a:rPr lang="en-US" sz="1500" b="1" dirty="0">
                <a:solidFill>
                  <a:srgbClr val="272525"/>
                </a:solidFill>
                <a:latin typeface="Petrona Bold" pitchFamily="34" charset="0"/>
                <a:ea typeface="Petrona Bold" pitchFamily="34" charset="-122"/>
                <a:cs typeface="Petrona Bold" pitchFamily="34" charset="-120"/>
              </a:rPr>
              <a:t>Problem</a:t>
            </a:r>
            <a:endParaRPr lang="en-US" sz="1500" dirty="0"/>
          </a:p>
        </p:txBody>
      </p:sp>
      <p:sp>
        <p:nvSpPr>
          <p:cNvPr id="6" name="Text 3"/>
          <p:cNvSpPr/>
          <p:nvPr/>
        </p:nvSpPr>
        <p:spPr>
          <a:xfrm>
            <a:off x="4071640" y="2055688"/>
            <a:ext cx="1997422" cy="1360884"/>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Excess edible food is wasted daily; poor disposal harms hygiene and increases costs. Lack of awareness and inconsistent portioning are key drivers.</a:t>
            </a:r>
            <a:endParaRPr lang="en-US" sz="1100" dirty="0"/>
          </a:p>
        </p:txBody>
      </p:sp>
      <p:sp>
        <p:nvSpPr>
          <p:cNvPr id="7" name="Shape 4"/>
          <p:cNvSpPr/>
          <p:nvPr/>
        </p:nvSpPr>
        <p:spPr>
          <a:xfrm>
            <a:off x="6357342" y="1580406"/>
            <a:ext cx="2290539" cy="2584996"/>
          </a:xfrm>
          <a:prstGeom prst="roundRect">
            <a:avLst>
              <a:gd name="adj" fmla="val 2599"/>
            </a:avLst>
          </a:prstGeom>
          <a:solidFill>
            <a:srgbClr val="E0D7F4"/>
          </a:solidFill>
          <a:ln w="4763">
            <a:solidFill>
              <a:srgbClr val="C6BDDA"/>
            </a:solidFill>
            <a:prstDash val="solid"/>
          </a:ln>
        </p:spPr>
      </p:sp>
      <p:sp>
        <p:nvSpPr>
          <p:cNvPr id="8" name="Text 5"/>
          <p:cNvSpPr/>
          <p:nvPr/>
        </p:nvSpPr>
        <p:spPr>
          <a:xfrm>
            <a:off x="6503863" y="1726927"/>
            <a:ext cx="1997497" cy="243706"/>
          </a:xfrm>
          <a:prstGeom prst="rect">
            <a:avLst/>
          </a:prstGeom>
          <a:noFill/>
          <a:ln/>
        </p:spPr>
        <p:txBody>
          <a:bodyPr wrap="none" lIns="0" tIns="0" rIns="0" bIns="0" rtlCol="0" anchor="t"/>
          <a:lstStyle/>
          <a:p>
            <a:pPr algn="l" indent="0" marL="0">
              <a:lnSpc>
                <a:spcPct val="104000"/>
              </a:lnSpc>
              <a:buNone/>
            </a:pPr>
            <a:r>
              <a:rPr lang="en-US" sz="1500" b="1" dirty="0">
                <a:solidFill>
                  <a:srgbClr val="272525"/>
                </a:solidFill>
                <a:latin typeface="Petrona Bold" pitchFamily="34" charset="0"/>
                <a:ea typeface="Petrona Bold" pitchFamily="34" charset="-122"/>
                <a:cs typeface="Petrona Bold" pitchFamily="34" charset="-120"/>
              </a:rPr>
              <a:t>Objectives</a:t>
            </a:r>
            <a:endParaRPr lang="en-US" sz="1500" dirty="0"/>
          </a:p>
        </p:txBody>
      </p:sp>
      <p:sp>
        <p:nvSpPr>
          <p:cNvPr id="9" name="Text 6"/>
          <p:cNvSpPr/>
          <p:nvPr/>
        </p:nvSpPr>
        <p:spPr>
          <a:xfrm>
            <a:off x="6503863" y="2055688"/>
            <a:ext cx="1997497" cy="1963192"/>
          </a:xfrm>
          <a:prstGeom prst="rect">
            <a:avLst/>
          </a:prstGeom>
          <a:noFill/>
          <a:ln/>
        </p:spPr>
        <p:txBody>
          <a:bodyPr wrap="square" lIns="0" tIns="0" rIns="0" bIns="0" rtlCol="0" anchor="t">
            <a:normAutofit/>
          </a:bodyPr>
          <a:lstStyle/>
          <a:p>
            <a:pPr algn="l" marL="223520" indent="-223520">
              <a:lnSpc>
                <a:spcPct val="133000"/>
              </a:lnSpc>
              <a:buSzPct val="100000"/>
              <a:buChar char="•"/>
            </a:pPr>
            <a:r>
              <a:rPr lang="en-US" sz="1100" dirty="0">
                <a:solidFill>
                  <a:srgbClr val="272525"/>
                </a:solidFill>
                <a:latin typeface="Inter" pitchFamily="34" charset="0"/>
                <a:ea typeface="Inter" pitchFamily="34" charset="-122"/>
                <a:cs typeface="Inter" pitchFamily="34" charset="-120"/>
              </a:rPr>
              <a:t>Identify causes of food waste</a:t>
            </a:r>
            <a:endParaRPr lang="en-US" sz="1100" dirty="0"/>
          </a:p>
          <a:p>
            <a:pPr algn="l" marL="223520" indent="-223520">
              <a:lnSpc>
                <a:spcPct val="133000"/>
              </a:lnSpc>
              <a:buSzPct val="100000"/>
              <a:buChar char="•"/>
            </a:pPr>
            <a:r>
              <a:rPr lang="en-US" sz="1100" dirty="0">
                <a:solidFill>
                  <a:srgbClr val="272525"/>
                </a:solidFill>
                <a:latin typeface="Inter" pitchFamily="34" charset="0"/>
                <a:ea typeface="Inter" pitchFamily="34" charset="-122"/>
                <a:cs typeface="Inter" pitchFamily="34" charset="-120"/>
              </a:rPr>
              <a:t>Assess hygiene &amp; sanitation</a:t>
            </a:r>
            <a:endParaRPr lang="en-US" sz="1100" dirty="0"/>
          </a:p>
          <a:p>
            <a:pPr algn="l" marL="223520" indent="-223520">
              <a:lnSpc>
                <a:spcPct val="133000"/>
              </a:lnSpc>
              <a:buSzPct val="100000"/>
              <a:buChar char="•"/>
            </a:pPr>
            <a:r>
              <a:rPr lang="en-US" sz="1100" dirty="0">
                <a:solidFill>
                  <a:srgbClr val="272525"/>
                </a:solidFill>
                <a:latin typeface="Inter" pitchFamily="34" charset="0"/>
                <a:ea typeface="Inter" pitchFamily="34" charset="-122"/>
                <a:cs typeface="Inter" pitchFamily="34" charset="-120"/>
              </a:rPr>
              <a:t>Analyze waste management practices</a:t>
            </a:r>
            <a:endParaRPr lang="en-US" sz="1100" dirty="0"/>
          </a:p>
          <a:p>
            <a:pPr algn="l" marL="223520" indent="-223520">
              <a:lnSpc>
                <a:spcPct val="133000"/>
              </a:lnSpc>
              <a:buSzPct val="100000"/>
              <a:buChar char="•"/>
            </a:pPr>
            <a:r>
              <a:rPr lang="en-US" sz="1100" dirty="0">
                <a:solidFill>
                  <a:srgbClr val="272525"/>
                </a:solidFill>
                <a:latin typeface="Inter" pitchFamily="34" charset="0"/>
                <a:ea typeface="Inter" pitchFamily="34" charset="-122"/>
                <a:cs typeface="Inter" pitchFamily="34" charset="-120"/>
              </a:rPr>
              <a:t>Recommend sustainable, actionable solutions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402407" y="814536"/>
            <a:ext cx="6339185" cy="2901255"/>
          </a:xfrm>
          <a:prstGeom prst="rect">
            <a:avLst/>
          </a:prstGeom>
        </p:spPr>
      </p:pic>
      <p:sp>
        <p:nvSpPr>
          <p:cNvPr id="3" name="Text 0"/>
          <p:cNvSpPr/>
          <p:nvPr/>
        </p:nvSpPr>
        <p:spPr>
          <a:xfrm>
            <a:off x="6256361" y="2889275"/>
            <a:ext cx="1190142" cy="504384"/>
          </a:xfrm>
          <a:prstGeom prst="rect">
            <a:avLst/>
          </a:prstGeom>
          <a:noFill/>
          <a:ln/>
        </p:spPr>
        <p:txBody>
          <a:bodyPr wrap="square" lIns="0" tIns="0" rIns="0" bIns="0" rtlCol="0" anchor="t">
            <a:normAutofit/>
          </a:bodyPr>
          <a:lstStyle/>
          <a:p>
            <a:pPr algn="ctr" indent="0" marL="0">
              <a:lnSpc>
                <a:spcPct val="104000"/>
              </a:lnSpc>
              <a:buNone/>
            </a:pPr>
            <a:r>
              <a:rPr lang="en-US" sz="1550" b="1" dirty="0">
                <a:solidFill>
                  <a:srgbClr val="272525"/>
                </a:solidFill>
                <a:latin typeface="Petrona Bold" pitchFamily="34" charset="0"/>
                <a:ea typeface="Petrona Bold" pitchFamily="34" charset="-122"/>
                <a:cs typeface="Petrona Bold" pitchFamily="34" charset="-120"/>
              </a:rPr>
              <a:t>Documentation</a:t>
            </a:r>
            <a:endParaRPr lang="en-US" sz="1550" dirty="0"/>
          </a:p>
        </p:txBody>
      </p:sp>
      <p:sp>
        <p:nvSpPr>
          <p:cNvPr id="4" name="Text 1"/>
          <p:cNvSpPr/>
          <p:nvPr/>
        </p:nvSpPr>
        <p:spPr>
          <a:xfrm>
            <a:off x="4756456" y="2889275"/>
            <a:ext cx="1190143" cy="504384"/>
          </a:xfrm>
          <a:prstGeom prst="rect">
            <a:avLst/>
          </a:prstGeom>
          <a:noFill/>
          <a:ln/>
        </p:spPr>
        <p:txBody>
          <a:bodyPr wrap="square" lIns="0" tIns="0" rIns="0" bIns="0" rtlCol="0" anchor="t">
            <a:normAutofit/>
          </a:bodyPr>
          <a:lstStyle/>
          <a:p>
            <a:pPr algn="ctr" indent="0" marL="0">
              <a:lnSpc>
                <a:spcPct val="104000"/>
              </a:lnSpc>
              <a:buNone/>
            </a:pPr>
            <a:r>
              <a:rPr lang="en-US" sz="1550" b="1" dirty="0">
                <a:solidFill>
                  <a:srgbClr val="272525"/>
                </a:solidFill>
                <a:latin typeface="Petrona Bold" pitchFamily="34" charset="0"/>
                <a:ea typeface="Petrona Bold" pitchFamily="34" charset="-122"/>
                <a:cs typeface="Petrona Bold" pitchFamily="34" charset="-120"/>
              </a:rPr>
              <a:t>Staff Interviews</a:t>
            </a:r>
            <a:endParaRPr lang="en-US" sz="1550" dirty="0"/>
          </a:p>
        </p:txBody>
      </p:sp>
      <p:sp>
        <p:nvSpPr>
          <p:cNvPr id="5" name="Text 2"/>
          <p:cNvSpPr/>
          <p:nvPr/>
        </p:nvSpPr>
        <p:spPr>
          <a:xfrm>
            <a:off x="3264702" y="3015372"/>
            <a:ext cx="1190142" cy="252192"/>
          </a:xfrm>
          <a:prstGeom prst="rect">
            <a:avLst/>
          </a:prstGeom>
          <a:noFill/>
          <a:ln/>
        </p:spPr>
        <p:txBody>
          <a:bodyPr wrap="none" lIns="0" tIns="0" rIns="0" bIns="0" rtlCol="0" anchor="t"/>
          <a:lstStyle/>
          <a:p>
            <a:pPr algn="ctr" indent="0" marL="0">
              <a:lnSpc>
                <a:spcPct val="104000"/>
              </a:lnSpc>
              <a:buNone/>
            </a:pPr>
            <a:r>
              <a:rPr lang="en-US" sz="1550" b="1" dirty="0">
                <a:solidFill>
                  <a:srgbClr val="272525"/>
                </a:solidFill>
                <a:latin typeface="Petrona Bold" pitchFamily="34" charset="0"/>
                <a:ea typeface="Petrona Bold" pitchFamily="34" charset="-122"/>
                <a:cs typeface="Petrona Bold" pitchFamily="34" charset="-120"/>
              </a:rPr>
              <a:t>Surveys</a:t>
            </a:r>
            <a:endParaRPr lang="en-US" sz="1550" dirty="0"/>
          </a:p>
        </p:txBody>
      </p:sp>
      <p:sp>
        <p:nvSpPr>
          <p:cNvPr id="6" name="Text 3"/>
          <p:cNvSpPr/>
          <p:nvPr/>
        </p:nvSpPr>
        <p:spPr>
          <a:xfrm>
            <a:off x="1740341" y="3015372"/>
            <a:ext cx="1190142" cy="252192"/>
          </a:xfrm>
          <a:prstGeom prst="rect">
            <a:avLst/>
          </a:prstGeom>
          <a:noFill/>
          <a:ln/>
        </p:spPr>
        <p:txBody>
          <a:bodyPr wrap="none" lIns="0" tIns="0" rIns="0" bIns="0" rtlCol="0" anchor="t"/>
          <a:lstStyle/>
          <a:p>
            <a:pPr algn="ctr" indent="0" marL="0">
              <a:lnSpc>
                <a:spcPct val="104000"/>
              </a:lnSpc>
              <a:buNone/>
            </a:pPr>
            <a:r>
              <a:rPr lang="en-US" sz="1550" b="1" dirty="0">
                <a:solidFill>
                  <a:srgbClr val="272525"/>
                </a:solidFill>
                <a:latin typeface="Petrona Bold" pitchFamily="34" charset="0"/>
                <a:ea typeface="Petrona Bold" pitchFamily="34" charset="-122"/>
                <a:cs typeface="Petrona Bold" pitchFamily="34" charset="-120"/>
              </a:rPr>
              <a:t>Observation</a:t>
            </a:r>
            <a:endParaRPr lang="en-US" sz="1550" dirty="0"/>
          </a:p>
        </p:txBody>
      </p:sp>
      <p:sp>
        <p:nvSpPr>
          <p:cNvPr id="7" name="Text 4"/>
          <p:cNvSpPr/>
          <p:nvPr/>
        </p:nvSpPr>
        <p:spPr>
          <a:xfrm>
            <a:off x="496119" y="3875261"/>
            <a:ext cx="8151763"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Our mixed-methods approach combines qualitative observation with structured surveys and staff interviews, supported by photographic documentation (with permission) to produce practical, evidence-based recommendations.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96119" y="910679"/>
            <a:ext cx="3053135" cy="1717328"/>
          </a:xfrm>
          <a:prstGeom prst="rect">
            <a:avLst/>
          </a:prstGeom>
        </p:spPr>
      </p:pic>
      <p:sp>
        <p:nvSpPr>
          <p:cNvPr id="3" name="Text 0"/>
          <p:cNvSpPr/>
          <p:nvPr/>
        </p:nvSpPr>
        <p:spPr>
          <a:xfrm>
            <a:off x="3899892" y="1283866"/>
            <a:ext cx="4752677" cy="389781"/>
          </a:xfrm>
          <a:prstGeom prst="rect">
            <a:avLst/>
          </a:prstGeom>
          <a:noFill/>
          <a:ln/>
        </p:spPr>
        <p:txBody>
          <a:bodyPr wrap="none" lIns="0" tIns="0" rIns="0" bIns="0" rtlCol="0" anchor="t"/>
          <a:lstStyle/>
          <a:p>
            <a:pPr algn="l" indent="0" marL="0">
              <a:lnSpc>
                <a:spcPct val="104000"/>
              </a:lnSpc>
              <a:buNone/>
            </a:pPr>
            <a:r>
              <a:rPr lang="en-US" sz="2450" b="1" dirty="0">
                <a:solidFill>
                  <a:srgbClr val="F95F88"/>
                </a:solidFill>
                <a:latin typeface="Petrona Bold" pitchFamily="34" charset="0"/>
                <a:ea typeface="Petrona Bold" pitchFamily="34" charset="-122"/>
                <a:cs typeface="Petrona Bold" pitchFamily="34" charset="-120"/>
              </a:rPr>
              <a:t>Survey &amp; Observation</a:t>
            </a:r>
            <a:endParaRPr lang="en-US" sz="2450" dirty="0"/>
          </a:p>
        </p:txBody>
      </p:sp>
      <p:sp>
        <p:nvSpPr>
          <p:cNvPr id="4" name="Text 1"/>
          <p:cNvSpPr/>
          <p:nvPr/>
        </p:nvSpPr>
        <p:spPr>
          <a:xfrm>
            <a:off x="3899892" y="1815405"/>
            <a:ext cx="4752677"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We asked targeted questions to both students and mess staff to capture behavior, motivations, and operational realities.</a:t>
            </a:r>
            <a:endParaRPr lang="en-US" sz="1100" dirty="0"/>
          </a:p>
        </p:txBody>
      </p:sp>
      <p:pic>
        <p:nvPicPr>
          <p:cNvPr id="5" name="Image 1" descr="preencoded.png">    </p:cNvPr>
          <p:cNvPicPr>
            <a:picLocks noChangeAspect="1"/>
          </p:cNvPicPr>
          <p:nvPr/>
        </p:nvPicPr>
        <p:blipFill>
          <a:blip r:embed="rId2"/>
          <a:stretch>
            <a:fillRect/>
          </a:stretch>
        </p:blipFill>
        <p:spPr>
          <a:xfrm>
            <a:off x="496119" y="2946946"/>
            <a:ext cx="1156246" cy="1445270"/>
          </a:xfrm>
          <a:prstGeom prst="rect">
            <a:avLst/>
          </a:prstGeom>
        </p:spPr>
      </p:pic>
      <p:sp>
        <p:nvSpPr>
          <p:cNvPr id="6" name="Text 2"/>
          <p:cNvSpPr/>
          <p:nvPr/>
        </p:nvSpPr>
        <p:spPr>
          <a:xfrm>
            <a:off x="1829544" y="2946946"/>
            <a:ext cx="2653829" cy="243706"/>
          </a:xfrm>
          <a:prstGeom prst="rect">
            <a:avLst/>
          </a:prstGeom>
          <a:noFill/>
          <a:ln/>
        </p:spPr>
        <p:txBody>
          <a:bodyPr wrap="none" lIns="0" tIns="0" rIns="0" bIns="0" rtlCol="0" anchor="t"/>
          <a:lstStyle/>
          <a:p>
            <a:pPr algn="l" indent="0" marL="0">
              <a:lnSpc>
                <a:spcPct val="104000"/>
              </a:lnSpc>
              <a:buNone/>
            </a:pPr>
            <a:r>
              <a:rPr lang="en-US" sz="1500" b="1" dirty="0">
                <a:solidFill>
                  <a:srgbClr val="272525"/>
                </a:solidFill>
                <a:latin typeface="Petrona Bold" pitchFamily="34" charset="0"/>
                <a:ea typeface="Petrona Bold" pitchFamily="34" charset="-122"/>
                <a:cs typeface="Petrona Bold" pitchFamily="34" charset="-120"/>
              </a:rPr>
              <a:t>Student Questions</a:t>
            </a:r>
            <a:endParaRPr lang="en-US" sz="1500" dirty="0"/>
          </a:p>
        </p:txBody>
      </p:sp>
      <p:sp>
        <p:nvSpPr>
          <p:cNvPr id="7" name="Text 3"/>
          <p:cNvSpPr/>
          <p:nvPr/>
        </p:nvSpPr>
        <p:spPr>
          <a:xfrm>
            <a:off x="1829544" y="3275707"/>
            <a:ext cx="2653829"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Do you finish meals? Reasons for wasting food? Support for half-portion options? Suggestions to reduce waste?</a:t>
            </a:r>
            <a:endParaRPr lang="en-US" sz="1100" dirty="0"/>
          </a:p>
        </p:txBody>
      </p:sp>
      <p:pic>
        <p:nvPicPr>
          <p:cNvPr id="8" name="Image 2" descr="preencoded.png">    </p:cNvPr>
          <p:cNvPicPr>
            <a:picLocks noChangeAspect="1"/>
          </p:cNvPicPr>
          <p:nvPr/>
        </p:nvPicPr>
        <p:blipFill>
          <a:blip r:embed="rId3"/>
          <a:stretch>
            <a:fillRect/>
          </a:stretch>
        </p:blipFill>
        <p:spPr>
          <a:xfrm>
            <a:off x="4660553" y="2946946"/>
            <a:ext cx="1156320" cy="1445344"/>
          </a:xfrm>
          <a:prstGeom prst="rect">
            <a:avLst/>
          </a:prstGeom>
        </p:spPr>
      </p:pic>
      <p:sp>
        <p:nvSpPr>
          <p:cNvPr id="9" name="Text 4"/>
          <p:cNvSpPr/>
          <p:nvPr/>
        </p:nvSpPr>
        <p:spPr>
          <a:xfrm>
            <a:off x="5994053" y="2946946"/>
            <a:ext cx="2653829" cy="243706"/>
          </a:xfrm>
          <a:prstGeom prst="rect">
            <a:avLst/>
          </a:prstGeom>
          <a:noFill/>
          <a:ln/>
        </p:spPr>
        <p:txBody>
          <a:bodyPr wrap="none" lIns="0" tIns="0" rIns="0" bIns="0" rtlCol="0" anchor="t"/>
          <a:lstStyle/>
          <a:p>
            <a:pPr algn="l" indent="0" marL="0">
              <a:lnSpc>
                <a:spcPct val="104000"/>
              </a:lnSpc>
              <a:buNone/>
            </a:pPr>
            <a:r>
              <a:rPr lang="en-US" sz="1500" b="1" dirty="0">
                <a:solidFill>
                  <a:srgbClr val="272525"/>
                </a:solidFill>
                <a:latin typeface="Petrona Bold" pitchFamily="34" charset="0"/>
                <a:ea typeface="Petrona Bold" pitchFamily="34" charset="-122"/>
                <a:cs typeface="Petrona Bold" pitchFamily="34" charset="-120"/>
              </a:rPr>
              <a:t>Staff Questions</a:t>
            </a:r>
            <a:endParaRPr lang="en-US" sz="1500" dirty="0"/>
          </a:p>
        </p:txBody>
      </p:sp>
      <p:sp>
        <p:nvSpPr>
          <p:cNvPr id="10" name="Text 5"/>
          <p:cNvSpPr/>
          <p:nvPr/>
        </p:nvSpPr>
        <p:spPr>
          <a:xfrm>
            <a:off x="5994053" y="3275707"/>
            <a:ext cx="2653829"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Estimated daily waste, leftover handling, hygiene routines, operational challenges and constraints.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25119" y="1816894"/>
            <a:ext cx="4722763" cy="389781"/>
          </a:xfrm>
          <a:prstGeom prst="rect">
            <a:avLst/>
          </a:prstGeom>
          <a:noFill/>
          <a:ln/>
        </p:spPr>
        <p:txBody>
          <a:bodyPr wrap="none" lIns="0" tIns="0" rIns="0" bIns="0" rtlCol="0" anchor="t"/>
          <a:lstStyle/>
          <a:p>
            <a:pPr algn="l" indent="0" marL="0">
              <a:lnSpc>
                <a:spcPct val="104000"/>
              </a:lnSpc>
              <a:buNone/>
            </a:pPr>
            <a:r>
              <a:rPr lang="en-US" sz="2450" b="1" dirty="0">
                <a:solidFill>
                  <a:srgbClr val="F95F88"/>
                </a:solidFill>
                <a:latin typeface="Petrona Bold" pitchFamily="34" charset="0"/>
                <a:ea typeface="Petrona Bold" pitchFamily="34" charset="-122"/>
                <a:cs typeface="Petrona Bold" pitchFamily="34" charset="-120"/>
              </a:rPr>
              <a:t>Hygiene &amp; Waste Observations</a:t>
            </a:r>
            <a:endParaRPr lang="en-US" sz="2450" dirty="0"/>
          </a:p>
        </p:txBody>
      </p:sp>
      <p:sp>
        <p:nvSpPr>
          <p:cNvPr id="4" name="Text 1"/>
          <p:cNvSpPr/>
          <p:nvPr/>
        </p:nvSpPr>
        <p:spPr>
          <a:xfrm>
            <a:off x="3925119" y="2419276"/>
            <a:ext cx="4722763" cy="907256"/>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Key observations: inconsistent serving hygiene, occasional uncovered leftovers, variable handwashing adherence, and gaps in segregation of wet and dry waste. These issues increase contamination risk and complicate composting or donation efforts.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1186235"/>
            <a:ext cx="4327773" cy="389781"/>
          </a:xfrm>
          <a:prstGeom prst="rect">
            <a:avLst/>
          </a:prstGeom>
          <a:noFill/>
          <a:ln/>
        </p:spPr>
        <p:txBody>
          <a:bodyPr wrap="none" lIns="0" tIns="0" rIns="0" bIns="0" rtlCol="0" anchor="t"/>
          <a:lstStyle/>
          <a:p>
            <a:pPr algn="l" indent="0" marL="0">
              <a:lnSpc>
                <a:spcPct val="104000"/>
              </a:lnSpc>
              <a:buNone/>
            </a:pPr>
            <a:r>
              <a:rPr lang="en-US" sz="2450" b="1" dirty="0">
                <a:solidFill>
                  <a:srgbClr val="F95F88"/>
                </a:solidFill>
                <a:latin typeface="Petrona Bold" pitchFamily="34" charset="0"/>
                <a:ea typeface="Petrona Bold" pitchFamily="34" charset="-122"/>
                <a:cs typeface="Petrona Bold" pitchFamily="34" charset="-120"/>
              </a:rPr>
              <a:t>Expected Outcomes</a:t>
            </a:r>
            <a:endParaRPr lang="en-US" sz="2450" dirty="0"/>
          </a:p>
        </p:txBody>
      </p:sp>
      <p:sp>
        <p:nvSpPr>
          <p:cNvPr id="3" name="Text 1"/>
          <p:cNvSpPr/>
          <p:nvPr/>
        </p:nvSpPr>
        <p:spPr>
          <a:xfrm>
            <a:off x="496119" y="1717774"/>
            <a:ext cx="4327773" cy="1282750"/>
          </a:xfrm>
          <a:prstGeom prst="rect">
            <a:avLst/>
          </a:prstGeom>
          <a:noFill/>
          <a:ln/>
        </p:spPr>
        <p:txBody>
          <a:bodyPr wrap="square" lIns="0" tIns="0" rIns="0" bIns="0" rtlCol="0" anchor="t">
            <a:normAutofit/>
          </a:bodyPr>
          <a:lstStyle/>
          <a:p>
            <a:pPr algn="l" marL="223520" indent="-223520">
              <a:lnSpc>
                <a:spcPct val="133000"/>
              </a:lnSpc>
              <a:buSzPct val="100000"/>
              <a:buChar char="•"/>
            </a:pPr>
            <a:r>
              <a:rPr lang="en-US" sz="1100" dirty="0">
                <a:solidFill>
                  <a:srgbClr val="272525"/>
                </a:solidFill>
                <a:latin typeface="Inter" pitchFamily="34" charset="0"/>
                <a:ea typeface="Inter" pitchFamily="34" charset="-122"/>
                <a:cs typeface="Inter" pitchFamily="34" charset="-120"/>
              </a:rPr>
              <a:t>Pinpoint primary causes of food wastage and peak waste times</a:t>
            </a:r>
            <a:endParaRPr lang="en-US" sz="1100" dirty="0"/>
          </a:p>
          <a:p>
            <a:pPr algn="l" marL="223520" indent="-223520">
              <a:lnSpc>
                <a:spcPct val="133000"/>
              </a:lnSpc>
              <a:buSzPct val="100000"/>
              <a:buChar char="•"/>
            </a:pPr>
            <a:r>
              <a:rPr lang="en-US" sz="1100" dirty="0">
                <a:solidFill>
                  <a:srgbClr val="272525"/>
                </a:solidFill>
                <a:latin typeface="Inter" pitchFamily="34" charset="0"/>
                <a:ea typeface="Inter" pitchFamily="34" charset="-122"/>
                <a:cs typeface="Inter" pitchFamily="34" charset="-120"/>
              </a:rPr>
              <a:t>Map student eating patterns and portion preferences</a:t>
            </a:r>
            <a:endParaRPr lang="en-US" sz="1100" dirty="0"/>
          </a:p>
          <a:p>
            <a:pPr algn="l" marL="223520" indent="-223520">
              <a:lnSpc>
                <a:spcPct val="133000"/>
              </a:lnSpc>
              <a:buSzPct val="100000"/>
              <a:buChar char="•"/>
            </a:pPr>
            <a:r>
              <a:rPr lang="en-US" sz="1100" dirty="0">
                <a:solidFill>
                  <a:srgbClr val="272525"/>
                </a:solidFill>
                <a:latin typeface="Inter" pitchFamily="34" charset="0"/>
                <a:ea typeface="Inter" pitchFamily="34" charset="-122"/>
                <a:cs typeface="Inter" pitchFamily="34" charset="-120"/>
              </a:rPr>
              <a:t>Evaluate current hygiene and waste-handling practices</a:t>
            </a:r>
            <a:endParaRPr lang="en-US" sz="1100" dirty="0"/>
          </a:p>
          <a:p>
            <a:pPr algn="l" marL="223520" indent="-223520">
              <a:lnSpc>
                <a:spcPct val="133000"/>
              </a:lnSpc>
              <a:buSzPct val="100000"/>
              <a:buChar char="•"/>
            </a:pPr>
            <a:r>
              <a:rPr lang="en-US" sz="1100" dirty="0">
                <a:solidFill>
                  <a:srgbClr val="272525"/>
                </a:solidFill>
                <a:latin typeface="Inter" pitchFamily="34" charset="0"/>
                <a:ea typeface="Inter" pitchFamily="34" charset="-122"/>
                <a:cs typeface="Inter" pitchFamily="34" charset="-120"/>
              </a:rPr>
              <a:t>Produce prioritized, practical recommendations for the mess</a:t>
            </a:r>
            <a:endParaRPr lang="en-US" sz="1100" dirty="0"/>
          </a:p>
        </p:txBody>
      </p:sp>
      <p:sp>
        <p:nvSpPr>
          <p:cNvPr id="4" name="Shape 2"/>
          <p:cNvSpPr/>
          <p:nvPr/>
        </p:nvSpPr>
        <p:spPr>
          <a:xfrm>
            <a:off x="496119" y="3159993"/>
            <a:ext cx="4327773" cy="779562"/>
          </a:xfrm>
          <a:prstGeom prst="roundRect">
            <a:avLst>
              <a:gd name="adj" fmla="val 7638"/>
            </a:avLst>
          </a:prstGeom>
          <a:solidFill>
            <a:srgbClr val="E0D7F4"/>
          </a:solidFill>
          <a:ln/>
        </p:spPr>
      </p:sp>
      <p:pic>
        <p:nvPicPr>
          <p:cNvPr id="5" name="Image 0" descr="preencoded.png">    </p:cNvPr>
          <p:cNvPicPr>
            <a:picLocks noChangeAspect="1"/>
          </p:cNvPicPr>
          <p:nvPr/>
        </p:nvPicPr>
        <p:blipFill>
          <a:blip r:embed="rId1"/>
          <a:stretch>
            <a:fillRect/>
          </a:stretch>
        </p:blipFill>
        <p:spPr>
          <a:xfrm>
            <a:off x="637877" y="3375050"/>
            <a:ext cx="177180" cy="141759"/>
          </a:xfrm>
          <a:prstGeom prst="rect">
            <a:avLst/>
          </a:prstGeom>
        </p:spPr>
      </p:pic>
      <p:sp>
        <p:nvSpPr>
          <p:cNvPr id="6" name="Text 3"/>
          <p:cNvSpPr/>
          <p:nvPr/>
        </p:nvSpPr>
        <p:spPr>
          <a:xfrm>
            <a:off x="956816" y="3322960"/>
            <a:ext cx="3725317"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000000"/>
                </a:solidFill>
                <a:latin typeface="Inter" pitchFamily="34" charset="0"/>
                <a:ea typeface="Inter" pitchFamily="34" charset="-122"/>
                <a:cs typeface="Inter" pitchFamily="34" charset="-120"/>
              </a:rPr>
              <a:t>Outcomes will guide pilot interventions and an evaluation plan for scaled adoption.</a:t>
            </a:r>
            <a:endParaRPr lang="en-US" sz="1100" dirty="0"/>
          </a:p>
        </p:txBody>
      </p:sp>
      <p:pic>
        <p:nvPicPr>
          <p:cNvPr id="7" name="Image 1" descr="preencoded.png">    </p:cNvPr>
          <p:cNvPicPr>
            <a:picLocks noChangeAspect="1"/>
          </p:cNvPicPr>
          <p:nvPr/>
        </p:nvPicPr>
        <p:blipFill>
          <a:blip r:embed="rId2"/>
          <a:stretch>
            <a:fillRect/>
          </a:stretch>
        </p:blipFill>
        <p:spPr>
          <a:xfrm>
            <a:off x="5174531" y="1593577"/>
            <a:ext cx="3478039" cy="195634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25119" y="439638"/>
            <a:ext cx="4722763" cy="371549"/>
          </a:xfrm>
          <a:prstGeom prst="rect">
            <a:avLst/>
          </a:prstGeom>
          <a:noFill/>
          <a:ln/>
        </p:spPr>
        <p:txBody>
          <a:bodyPr wrap="none" lIns="0" tIns="0" rIns="0" bIns="0" rtlCol="0" anchor="t"/>
          <a:lstStyle/>
          <a:p>
            <a:pPr algn="l" indent="0" marL="0">
              <a:lnSpc>
                <a:spcPct val="104000"/>
              </a:lnSpc>
              <a:buNone/>
            </a:pPr>
            <a:r>
              <a:rPr lang="en-US" sz="2300" b="1" dirty="0">
                <a:solidFill>
                  <a:srgbClr val="F95F88"/>
                </a:solidFill>
                <a:latin typeface="Petrona Bold" pitchFamily="34" charset="0"/>
                <a:ea typeface="Petrona Bold" pitchFamily="34" charset="-122"/>
                <a:cs typeface="Petrona Bold" pitchFamily="34" charset="-120"/>
              </a:rPr>
              <a:t>Project Contribution to SDGs</a:t>
            </a:r>
            <a:endParaRPr lang="en-US" sz="23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25119" y="1004367"/>
            <a:ext cx="337765" cy="337765"/>
          </a:xfrm>
          <a:prstGeom prst="rect">
            <a:avLst/>
          </a:prstGeom>
        </p:spPr>
      </p:pic>
      <p:sp>
        <p:nvSpPr>
          <p:cNvPr id="5" name="Text 1"/>
          <p:cNvSpPr/>
          <p:nvPr/>
        </p:nvSpPr>
        <p:spPr>
          <a:xfrm>
            <a:off x="4423842" y="1004367"/>
            <a:ext cx="4224040" cy="232246"/>
          </a:xfrm>
          <a:prstGeom prst="rect">
            <a:avLst/>
          </a:prstGeom>
          <a:noFill/>
          <a:ln/>
        </p:spPr>
        <p:txBody>
          <a:bodyPr wrap="none" lIns="0" tIns="0" rIns="0" bIns="0" rtlCol="0" anchor="t"/>
          <a:lstStyle/>
          <a:p>
            <a:pPr algn="l" indent="0" marL="0">
              <a:lnSpc>
                <a:spcPct val="104000"/>
              </a:lnSpc>
              <a:buNone/>
            </a:pPr>
            <a:r>
              <a:rPr lang="en-US" sz="1450" b="1" dirty="0">
                <a:solidFill>
                  <a:srgbClr val="272525"/>
                </a:solidFill>
                <a:latin typeface="Petrona Bold" pitchFamily="34" charset="0"/>
                <a:ea typeface="Petrona Bold" pitchFamily="34" charset="-122"/>
                <a:cs typeface="Petrona Bold" pitchFamily="34" charset="-120"/>
              </a:rPr>
              <a:t>SDG 2 — Zero Hunger</a:t>
            </a:r>
            <a:endParaRPr lang="en-US" sz="1450" dirty="0"/>
          </a:p>
        </p:txBody>
      </p:sp>
      <p:sp>
        <p:nvSpPr>
          <p:cNvPr id="6" name="Text 2"/>
          <p:cNvSpPr/>
          <p:nvPr/>
        </p:nvSpPr>
        <p:spPr>
          <a:xfrm>
            <a:off x="4423842" y="1313855"/>
            <a:ext cx="4224040" cy="422225"/>
          </a:xfrm>
          <a:prstGeom prst="rect">
            <a:avLst/>
          </a:prstGeom>
          <a:noFill/>
          <a:ln/>
        </p:spPr>
        <p:txBody>
          <a:bodyPr wrap="square" lIns="0" tIns="0" rIns="0" bIns="0" rtlCol="0" anchor="t">
            <a:normAutofit/>
          </a:bodyPr>
          <a:lstStyle/>
          <a:p>
            <a:pPr algn="l" indent="0" marL="0">
              <a:lnSpc>
                <a:spcPct val="130000"/>
              </a:lnSpc>
              <a:buNone/>
            </a:pPr>
            <a:r>
              <a:rPr lang="en-US" sz="1050" dirty="0">
                <a:solidFill>
                  <a:srgbClr val="272525"/>
                </a:solidFill>
                <a:latin typeface="Inter" pitchFamily="34" charset="0"/>
                <a:ea typeface="Inter" pitchFamily="34" charset="-122"/>
                <a:cs typeface="Inter" pitchFamily="34" charset="-120"/>
              </a:rPr>
              <a:t>Reduce edible food waste to increase availability and food security within the community.</a:t>
            </a:r>
            <a:endParaRPr lang="en-US" sz="105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25119" y="1993627"/>
            <a:ext cx="337765" cy="337765"/>
          </a:xfrm>
          <a:prstGeom prst="rect">
            <a:avLst/>
          </a:prstGeom>
        </p:spPr>
      </p:pic>
      <p:sp>
        <p:nvSpPr>
          <p:cNvPr id="8" name="Text 3"/>
          <p:cNvSpPr/>
          <p:nvPr/>
        </p:nvSpPr>
        <p:spPr>
          <a:xfrm>
            <a:off x="4423842" y="1993627"/>
            <a:ext cx="4224040" cy="232246"/>
          </a:xfrm>
          <a:prstGeom prst="rect">
            <a:avLst/>
          </a:prstGeom>
          <a:noFill/>
          <a:ln/>
        </p:spPr>
        <p:txBody>
          <a:bodyPr wrap="none" lIns="0" tIns="0" rIns="0" bIns="0" rtlCol="0" anchor="t"/>
          <a:lstStyle/>
          <a:p>
            <a:pPr algn="l" indent="0" marL="0">
              <a:lnSpc>
                <a:spcPct val="104000"/>
              </a:lnSpc>
              <a:buNone/>
            </a:pPr>
            <a:r>
              <a:rPr lang="en-US" sz="1450" b="1" dirty="0">
                <a:solidFill>
                  <a:srgbClr val="272525"/>
                </a:solidFill>
                <a:latin typeface="Petrona Bold" pitchFamily="34" charset="0"/>
                <a:ea typeface="Petrona Bold" pitchFamily="34" charset="-122"/>
                <a:cs typeface="Petrona Bold" pitchFamily="34" charset="-120"/>
              </a:rPr>
              <a:t>SDG 3 — Good Health</a:t>
            </a:r>
            <a:endParaRPr lang="en-US" sz="1450" dirty="0"/>
          </a:p>
        </p:txBody>
      </p:sp>
      <p:sp>
        <p:nvSpPr>
          <p:cNvPr id="9" name="Text 4"/>
          <p:cNvSpPr/>
          <p:nvPr/>
        </p:nvSpPr>
        <p:spPr>
          <a:xfrm>
            <a:off x="4423842" y="2303115"/>
            <a:ext cx="4224040" cy="422225"/>
          </a:xfrm>
          <a:prstGeom prst="rect">
            <a:avLst/>
          </a:prstGeom>
          <a:noFill/>
          <a:ln/>
        </p:spPr>
        <p:txBody>
          <a:bodyPr wrap="square" lIns="0" tIns="0" rIns="0" bIns="0" rtlCol="0" anchor="t">
            <a:normAutofit/>
          </a:bodyPr>
          <a:lstStyle/>
          <a:p>
            <a:pPr algn="l" indent="0" marL="0">
              <a:lnSpc>
                <a:spcPct val="130000"/>
              </a:lnSpc>
              <a:buNone/>
            </a:pPr>
            <a:r>
              <a:rPr lang="en-US" sz="1050" dirty="0">
                <a:solidFill>
                  <a:srgbClr val="272525"/>
                </a:solidFill>
                <a:latin typeface="Inter" pitchFamily="34" charset="0"/>
                <a:ea typeface="Inter" pitchFamily="34" charset="-122"/>
                <a:cs typeface="Inter" pitchFamily="34" charset="-120"/>
              </a:rPr>
              <a:t>Improve nutrition and sanitation through safer handling and portion control.</a:t>
            </a:r>
            <a:endParaRPr lang="en-US" sz="105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925119" y="2982888"/>
            <a:ext cx="337765" cy="337765"/>
          </a:xfrm>
          <a:prstGeom prst="rect">
            <a:avLst/>
          </a:prstGeom>
        </p:spPr>
      </p:pic>
      <p:sp>
        <p:nvSpPr>
          <p:cNvPr id="11" name="Text 5"/>
          <p:cNvSpPr/>
          <p:nvPr/>
        </p:nvSpPr>
        <p:spPr>
          <a:xfrm>
            <a:off x="4423842" y="2982888"/>
            <a:ext cx="4224040" cy="232246"/>
          </a:xfrm>
          <a:prstGeom prst="rect">
            <a:avLst/>
          </a:prstGeom>
          <a:noFill/>
          <a:ln/>
        </p:spPr>
        <p:txBody>
          <a:bodyPr wrap="none" lIns="0" tIns="0" rIns="0" bIns="0" rtlCol="0" anchor="t"/>
          <a:lstStyle/>
          <a:p>
            <a:pPr algn="l" indent="0" marL="0">
              <a:lnSpc>
                <a:spcPct val="104000"/>
              </a:lnSpc>
              <a:buNone/>
            </a:pPr>
            <a:r>
              <a:rPr lang="en-US" sz="1450" b="1" dirty="0">
                <a:solidFill>
                  <a:srgbClr val="272525"/>
                </a:solidFill>
                <a:latin typeface="Petrona Bold" pitchFamily="34" charset="0"/>
                <a:ea typeface="Petrona Bold" pitchFamily="34" charset="-122"/>
                <a:cs typeface="Petrona Bold" pitchFamily="34" charset="-120"/>
              </a:rPr>
              <a:t>SDG 12 — Responsible Consumption</a:t>
            </a:r>
            <a:endParaRPr lang="en-US" sz="1450" dirty="0"/>
          </a:p>
        </p:txBody>
      </p:sp>
      <p:sp>
        <p:nvSpPr>
          <p:cNvPr id="12" name="Text 6"/>
          <p:cNvSpPr/>
          <p:nvPr/>
        </p:nvSpPr>
        <p:spPr>
          <a:xfrm>
            <a:off x="4423842" y="3292376"/>
            <a:ext cx="4224040" cy="422225"/>
          </a:xfrm>
          <a:prstGeom prst="rect">
            <a:avLst/>
          </a:prstGeom>
          <a:noFill/>
          <a:ln/>
        </p:spPr>
        <p:txBody>
          <a:bodyPr wrap="square" lIns="0" tIns="0" rIns="0" bIns="0" rtlCol="0" anchor="t">
            <a:normAutofit/>
          </a:bodyPr>
          <a:lstStyle/>
          <a:p>
            <a:pPr algn="l" indent="0" marL="0">
              <a:lnSpc>
                <a:spcPct val="130000"/>
              </a:lnSpc>
              <a:buNone/>
            </a:pPr>
            <a:r>
              <a:rPr lang="en-US" sz="1050" dirty="0">
                <a:solidFill>
                  <a:srgbClr val="272525"/>
                </a:solidFill>
                <a:latin typeface="Inter" pitchFamily="34" charset="0"/>
                <a:ea typeface="Inter" pitchFamily="34" charset="-122"/>
                <a:cs typeface="Inter" pitchFamily="34" charset="-120"/>
              </a:rPr>
              <a:t>Encourage mindful consumption, composting, and better menu planning.</a:t>
            </a:r>
            <a:endParaRPr lang="en-US" sz="1050" dirty="0"/>
          </a:p>
        </p:txBody>
      </p:sp>
      <p:pic>
        <p:nvPicPr>
          <p:cNvPr id="13"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925119" y="3972148"/>
            <a:ext cx="337765" cy="337765"/>
          </a:xfrm>
          <a:prstGeom prst="rect">
            <a:avLst/>
          </a:prstGeom>
        </p:spPr>
      </p:pic>
      <p:sp>
        <p:nvSpPr>
          <p:cNvPr id="14" name="Text 7"/>
          <p:cNvSpPr/>
          <p:nvPr/>
        </p:nvSpPr>
        <p:spPr>
          <a:xfrm>
            <a:off x="4423842" y="3972148"/>
            <a:ext cx="4224040" cy="232246"/>
          </a:xfrm>
          <a:prstGeom prst="rect">
            <a:avLst/>
          </a:prstGeom>
          <a:noFill/>
          <a:ln/>
        </p:spPr>
        <p:txBody>
          <a:bodyPr wrap="none" lIns="0" tIns="0" rIns="0" bIns="0" rtlCol="0" anchor="t"/>
          <a:lstStyle/>
          <a:p>
            <a:pPr algn="l" indent="0" marL="0">
              <a:lnSpc>
                <a:spcPct val="104000"/>
              </a:lnSpc>
              <a:buNone/>
            </a:pPr>
            <a:r>
              <a:rPr lang="en-US" sz="1450" b="1" dirty="0">
                <a:solidFill>
                  <a:srgbClr val="272525"/>
                </a:solidFill>
                <a:latin typeface="Petrona Bold" pitchFamily="34" charset="0"/>
                <a:ea typeface="Petrona Bold" pitchFamily="34" charset="-122"/>
                <a:cs typeface="Petrona Bold" pitchFamily="34" charset="-120"/>
              </a:rPr>
              <a:t>SDG 13 — Climate Action</a:t>
            </a:r>
            <a:endParaRPr lang="en-US" sz="1450" dirty="0"/>
          </a:p>
        </p:txBody>
      </p:sp>
      <p:sp>
        <p:nvSpPr>
          <p:cNvPr id="15" name="Text 8"/>
          <p:cNvSpPr/>
          <p:nvPr/>
        </p:nvSpPr>
        <p:spPr>
          <a:xfrm>
            <a:off x="4423842" y="4281636"/>
            <a:ext cx="4224040" cy="422225"/>
          </a:xfrm>
          <a:prstGeom prst="rect">
            <a:avLst/>
          </a:prstGeom>
          <a:noFill/>
          <a:ln/>
        </p:spPr>
        <p:txBody>
          <a:bodyPr wrap="square" lIns="0" tIns="0" rIns="0" bIns="0" rtlCol="0" anchor="t">
            <a:normAutofit/>
          </a:bodyPr>
          <a:lstStyle/>
          <a:p>
            <a:pPr algn="l" indent="0" marL="0">
              <a:lnSpc>
                <a:spcPct val="130000"/>
              </a:lnSpc>
              <a:buNone/>
            </a:pPr>
            <a:r>
              <a:rPr lang="en-US" sz="1050" dirty="0">
                <a:solidFill>
                  <a:srgbClr val="272525"/>
                </a:solidFill>
                <a:latin typeface="Inter" pitchFamily="34" charset="0"/>
                <a:ea typeface="Inter" pitchFamily="34" charset="-122"/>
                <a:cs typeface="Inter" pitchFamily="34" charset="-120"/>
              </a:rPr>
              <a:t>Reducing food waste lowers methane emissions and supports campus sustainability goals.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502072"/>
            <a:ext cx="3935388" cy="316706"/>
          </a:xfrm>
          <a:prstGeom prst="rect">
            <a:avLst/>
          </a:prstGeom>
          <a:noFill/>
          <a:ln/>
        </p:spPr>
        <p:txBody>
          <a:bodyPr wrap="none" lIns="0" tIns="0" rIns="0" bIns="0" rtlCol="0" anchor="t"/>
          <a:lstStyle/>
          <a:p>
            <a:pPr algn="l" indent="0" marL="0">
              <a:lnSpc>
                <a:spcPct val="104000"/>
              </a:lnSpc>
              <a:buNone/>
            </a:pPr>
            <a:r>
              <a:rPr lang="en-US" sz="1950" b="1" dirty="0">
                <a:solidFill>
                  <a:srgbClr val="F95F88"/>
                </a:solidFill>
                <a:latin typeface="Petrona Bold" pitchFamily="34" charset="0"/>
                <a:ea typeface="Petrona Bold" pitchFamily="34" charset="-122"/>
                <a:cs typeface="Petrona Bold" pitchFamily="34" charset="-120"/>
              </a:rPr>
              <a:t>Recommendations</a:t>
            </a:r>
            <a:endParaRPr lang="en-US" sz="1950" dirty="0"/>
          </a:p>
        </p:txBody>
      </p:sp>
      <p:sp>
        <p:nvSpPr>
          <p:cNvPr id="3" name="Shape 1"/>
          <p:cNvSpPr/>
          <p:nvPr/>
        </p:nvSpPr>
        <p:spPr>
          <a:xfrm>
            <a:off x="496119" y="923999"/>
            <a:ext cx="1920925" cy="1218233"/>
          </a:xfrm>
          <a:prstGeom prst="roundRect">
            <a:avLst>
              <a:gd name="adj" fmla="val 3971"/>
            </a:avLst>
          </a:prstGeom>
          <a:solidFill>
            <a:srgbClr val="FDFAF7"/>
          </a:solidFill>
          <a:ln w="14288">
            <a:solidFill>
              <a:srgbClr val="C6BDDA"/>
            </a:solidFill>
            <a:prstDash val="solid"/>
          </a:ln>
        </p:spPr>
      </p:sp>
      <p:sp>
        <p:nvSpPr>
          <p:cNvPr id="4" name="Text 2"/>
          <p:cNvSpPr/>
          <p:nvPr/>
        </p:nvSpPr>
        <p:spPr>
          <a:xfrm>
            <a:off x="625525" y="1053405"/>
            <a:ext cx="1662113" cy="197941"/>
          </a:xfrm>
          <a:prstGeom prst="rect">
            <a:avLst/>
          </a:prstGeom>
          <a:noFill/>
          <a:ln/>
        </p:spPr>
        <p:txBody>
          <a:bodyPr wrap="none" lIns="0" tIns="0" rIns="0" bIns="0" rtlCol="0" anchor="t"/>
          <a:lstStyle/>
          <a:p>
            <a:pPr algn="l" indent="0" marL="0">
              <a:lnSpc>
                <a:spcPct val="104000"/>
              </a:lnSpc>
              <a:buNone/>
            </a:pPr>
            <a:r>
              <a:rPr lang="en-US" sz="1200" b="1" dirty="0">
                <a:solidFill>
                  <a:srgbClr val="272525"/>
                </a:solidFill>
                <a:latin typeface="Petrona Bold" pitchFamily="34" charset="0"/>
                <a:ea typeface="Petrona Bold" pitchFamily="34" charset="-122"/>
                <a:cs typeface="Petrona Bold" pitchFamily="34" charset="-120"/>
              </a:rPr>
              <a:t>Portioning Options</a:t>
            </a:r>
            <a:endParaRPr lang="en-US" sz="1200" dirty="0"/>
          </a:p>
        </p:txBody>
      </p:sp>
      <p:sp>
        <p:nvSpPr>
          <p:cNvPr id="5" name="Text 3"/>
          <p:cNvSpPr/>
          <p:nvPr/>
        </p:nvSpPr>
        <p:spPr>
          <a:xfrm>
            <a:off x="625525" y="1344885"/>
            <a:ext cx="1662113" cy="500955"/>
          </a:xfrm>
          <a:prstGeom prst="rect">
            <a:avLst/>
          </a:prstGeom>
          <a:noFill/>
          <a:ln/>
        </p:spPr>
        <p:txBody>
          <a:bodyPr wrap="square" lIns="0" tIns="0" rIns="0" bIns="0" rtlCol="0" anchor="t">
            <a:normAutofit/>
          </a:bodyPr>
          <a:lstStyle/>
          <a:p>
            <a:pPr algn="l" indent="0" marL="0">
              <a:lnSpc>
                <a:spcPct val="121000"/>
              </a:lnSpc>
              <a:buNone/>
            </a:pPr>
            <a:r>
              <a:rPr lang="en-US" sz="900" dirty="0">
                <a:solidFill>
                  <a:srgbClr val="272525"/>
                </a:solidFill>
                <a:latin typeface="Inter" pitchFamily="34" charset="0"/>
                <a:ea typeface="Inter" pitchFamily="34" charset="-122"/>
                <a:cs typeface="Inter" pitchFamily="34" charset="-120"/>
              </a:rPr>
              <a:t>Introduce standard and half-portion choices; monitor uptake to adjust quantities.</a:t>
            </a:r>
            <a:endParaRPr lang="en-US" sz="900" dirty="0"/>
          </a:p>
        </p:txBody>
      </p:sp>
      <p:sp>
        <p:nvSpPr>
          <p:cNvPr id="6" name="Shape 4"/>
          <p:cNvSpPr/>
          <p:nvPr/>
        </p:nvSpPr>
        <p:spPr>
          <a:xfrm>
            <a:off x="2510582" y="923999"/>
            <a:ext cx="1920925" cy="1218233"/>
          </a:xfrm>
          <a:prstGeom prst="roundRect">
            <a:avLst>
              <a:gd name="adj" fmla="val 3971"/>
            </a:avLst>
          </a:prstGeom>
          <a:solidFill>
            <a:srgbClr val="FDFAF7"/>
          </a:solidFill>
          <a:ln w="14288">
            <a:solidFill>
              <a:srgbClr val="C6BDDA"/>
            </a:solidFill>
            <a:prstDash val="solid"/>
          </a:ln>
        </p:spPr>
      </p:sp>
      <p:sp>
        <p:nvSpPr>
          <p:cNvPr id="7" name="Text 5"/>
          <p:cNvSpPr/>
          <p:nvPr/>
        </p:nvSpPr>
        <p:spPr>
          <a:xfrm>
            <a:off x="2639988" y="1053405"/>
            <a:ext cx="1662113" cy="197941"/>
          </a:xfrm>
          <a:prstGeom prst="rect">
            <a:avLst/>
          </a:prstGeom>
          <a:noFill/>
          <a:ln/>
        </p:spPr>
        <p:txBody>
          <a:bodyPr wrap="none" lIns="0" tIns="0" rIns="0" bIns="0" rtlCol="0" anchor="t"/>
          <a:lstStyle/>
          <a:p>
            <a:pPr algn="l" indent="0" marL="0">
              <a:lnSpc>
                <a:spcPct val="104000"/>
              </a:lnSpc>
              <a:buNone/>
            </a:pPr>
            <a:r>
              <a:rPr lang="en-US" sz="1200" b="1" dirty="0">
                <a:solidFill>
                  <a:srgbClr val="272525"/>
                </a:solidFill>
                <a:latin typeface="Petrona Bold" pitchFamily="34" charset="0"/>
                <a:ea typeface="Petrona Bold" pitchFamily="34" charset="-122"/>
                <a:cs typeface="Petrona Bold" pitchFamily="34" charset="-120"/>
              </a:rPr>
              <a:t>Awareness Campaigns</a:t>
            </a:r>
            <a:endParaRPr lang="en-US" sz="1200" dirty="0"/>
          </a:p>
        </p:txBody>
      </p:sp>
      <p:sp>
        <p:nvSpPr>
          <p:cNvPr id="8" name="Text 6"/>
          <p:cNvSpPr/>
          <p:nvPr/>
        </p:nvSpPr>
        <p:spPr>
          <a:xfrm>
            <a:off x="2639988" y="1344885"/>
            <a:ext cx="1662113" cy="667941"/>
          </a:xfrm>
          <a:prstGeom prst="rect">
            <a:avLst/>
          </a:prstGeom>
          <a:noFill/>
          <a:ln/>
        </p:spPr>
        <p:txBody>
          <a:bodyPr wrap="square" lIns="0" tIns="0" rIns="0" bIns="0" rtlCol="0" anchor="t">
            <a:normAutofit/>
          </a:bodyPr>
          <a:lstStyle/>
          <a:p>
            <a:pPr algn="l" indent="0" marL="0">
              <a:lnSpc>
                <a:spcPct val="121000"/>
              </a:lnSpc>
              <a:buNone/>
            </a:pPr>
            <a:r>
              <a:rPr lang="en-US" sz="900" dirty="0">
                <a:solidFill>
                  <a:srgbClr val="272525"/>
                </a:solidFill>
                <a:latin typeface="Inter" pitchFamily="34" charset="0"/>
                <a:ea typeface="Inter" pitchFamily="34" charset="-122"/>
                <a:cs typeface="Inter" pitchFamily="34" charset="-120"/>
              </a:rPr>
              <a:t>Student-led workshops, posters, and social media prompts on minimizing waste and hygiene best practices.</a:t>
            </a:r>
            <a:endParaRPr lang="en-US" sz="900" dirty="0"/>
          </a:p>
        </p:txBody>
      </p:sp>
      <p:sp>
        <p:nvSpPr>
          <p:cNvPr id="9" name="Shape 7"/>
          <p:cNvSpPr/>
          <p:nvPr/>
        </p:nvSpPr>
        <p:spPr>
          <a:xfrm>
            <a:off x="496119" y="2235771"/>
            <a:ext cx="1920925" cy="1416174"/>
          </a:xfrm>
          <a:prstGeom prst="roundRect">
            <a:avLst>
              <a:gd name="adj" fmla="val 3416"/>
            </a:avLst>
          </a:prstGeom>
          <a:solidFill>
            <a:srgbClr val="FDFAF7"/>
          </a:solidFill>
          <a:ln w="14288">
            <a:solidFill>
              <a:srgbClr val="C6BDDA"/>
            </a:solidFill>
            <a:prstDash val="solid"/>
          </a:ln>
        </p:spPr>
      </p:sp>
      <p:sp>
        <p:nvSpPr>
          <p:cNvPr id="10" name="Text 8"/>
          <p:cNvSpPr/>
          <p:nvPr/>
        </p:nvSpPr>
        <p:spPr>
          <a:xfrm>
            <a:off x="625525" y="2365177"/>
            <a:ext cx="1662113" cy="395883"/>
          </a:xfrm>
          <a:prstGeom prst="rect">
            <a:avLst/>
          </a:prstGeom>
          <a:noFill/>
          <a:ln/>
        </p:spPr>
        <p:txBody>
          <a:bodyPr wrap="square" lIns="0" tIns="0" rIns="0" bIns="0" rtlCol="0" anchor="t">
            <a:normAutofit/>
          </a:bodyPr>
          <a:lstStyle/>
          <a:p>
            <a:pPr algn="l" indent="0" marL="0">
              <a:lnSpc>
                <a:spcPct val="104000"/>
              </a:lnSpc>
              <a:buNone/>
            </a:pPr>
            <a:r>
              <a:rPr lang="en-US" sz="1200" b="1" dirty="0">
                <a:solidFill>
                  <a:srgbClr val="272525"/>
                </a:solidFill>
                <a:latin typeface="Petrona Bold" pitchFamily="34" charset="0"/>
                <a:ea typeface="Petrona Bold" pitchFamily="34" charset="-122"/>
                <a:cs typeface="Petrona Bold" pitchFamily="34" charset="-120"/>
              </a:rPr>
              <a:t>Composting &amp; Segregation</a:t>
            </a:r>
            <a:endParaRPr lang="en-US" sz="1200" dirty="0"/>
          </a:p>
        </p:txBody>
      </p:sp>
      <p:sp>
        <p:nvSpPr>
          <p:cNvPr id="11" name="Text 9"/>
          <p:cNvSpPr/>
          <p:nvPr/>
        </p:nvSpPr>
        <p:spPr>
          <a:xfrm>
            <a:off x="625525" y="2854598"/>
            <a:ext cx="1662113" cy="667941"/>
          </a:xfrm>
          <a:prstGeom prst="rect">
            <a:avLst/>
          </a:prstGeom>
          <a:noFill/>
          <a:ln/>
        </p:spPr>
        <p:txBody>
          <a:bodyPr wrap="square" lIns="0" tIns="0" rIns="0" bIns="0" rtlCol="0" anchor="t">
            <a:normAutofit/>
          </a:bodyPr>
          <a:lstStyle/>
          <a:p>
            <a:pPr algn="l" indent="0" marL="0">
              <a:lnSpc>
                <a:spcPct val="121000"/>
              </a:lnSpc>
              <a:buNone/>
            </a:pPr>
            <a:r>
              <a:rPr lang="en-US" sz="900" dirty="0">
                <a:solidFill>
                  <a:srgbClr val="272525"/>
                </a:solidFill>
                <a:latin typeface="Inter" pitchFamily="34" charset="0"/>
                <a:ea typeface="Inter" pitchFamily="34" charset="-122"/>
                <a:cs typeface="Inter" pitchFamily="34" charset="-120"/>
              </a:rPr>
              <a:t>Set up clearly labeled bins and a small on-site composting system for unavoidable organic waste.</a:t>
            </a:r>
            <a:endParaRPr lang="en-US" sz="900" dirty="0"/>
          </a:p>
        </p:txBody>
      </p:sp>
      <p:sp>
        <p:nvSpPr>
          <p:cNvPr id="12" name="Shape 10"/>
          <p:cNvSpPr/>
          <p:nvPr/>
        </p:nvSpPr>
        <p:spPr>
          <a:xfrm>
            <a:off x="2510582" y="2235771"/>
            <a:ext cx="1920925" cy="1416174"/>
          </a:xfrm>
          <a:prstGeom prst="roundRect">
            <a:avLst>
              <a:gd name="adj" fmla="val 3416"/>
            </a:avLst>
          </a:prstGeom>
          <a:solidFill>
            <a:srgbClr val="FDFAF7"/>
          </a:solidFill>
          <a:ln w="14288">
            <a:solidFill>
              <a:srgbClr val="C6BDDA"/>
            </a:solidFill>
            <a:prstDash val="solid"/>
          </a:ln>
        </p:spPr>
      </p:sp>
      <p:sp>
        <p:nvSpPr>
          <p:cNvPr id="13" name="Text 11"/>
          <p:cNvSpPr/>
          <p:nvPr/>
        </p:nvSpPr>
        <p:spPr>
          <a:xfrm>
            <a:off x="2639988" y="2365177"/>
            <a:ext cx="1662113" cy="197941"/>
          </a:xfrm>
          <a:prstGeom prst="rect">
            <a:avLst/>
          </a:prstGeom>
          <a:noFill/>
          <a:ln/>
        </p:spPr>
        <p:txBody>
          <a:bodyPr wrap="none" lIns="0" tIns="0" rIns="0" bIns="0" rtlCol="0" anchor="t"/>
          <a:lstStyle/>
          <a:p>
            <a:pPr algn="l" indent="0" marL="0">
              <a:lnSpc>
                <a:spcPct val="104000"/>
              </a:lnSpc>
              <a:buNone/>
            </a:pPr>
            <a:r>
              <a:rPr lang="en-US" sz="1200" b="1" dirty="0">
                <a:solidFill>
                  <a:srgbClr val="272525"/>
                </a:solidFill>
                <a:latin typeface="Petrona Bold" pitchFamily="34" charset="0"/>
                <a:ea typeface="Petrona Bold" pitchFamily="34" charset="-122"/>
                <a:cs typeface="Petrona Bold" pitchFamily="34" charset="-120"/>
              </a:rPr>
              <a:t>Donation Protocol</a:t>
            </a:r>
            <a:endParaRPr lang="en-US" sz="1200" dirty="0"/>
          </a:p>
        </p:txBody>
      </p:sp>
      <p:sp>
        <p:nvSpPr>
          <p:cNvPr id="14" name="Text 12"/>
          <p:cNvSpPr/>
          <p:nvPr/>
        </p:nvSpPr>
        <p:spPr>
          <a:xfrm>
            <a:off x="2639988" y="2656656"/>
            <a:ext cx="1662113" cy="667941"/>
          </a:xfrm>
          <a:prstGeom prst="rect">
            <a:avLst/>
          </a:prstGeom>
          <a:noFill/>
          <a:ln/>
        </p:spPr>
        <p:txBody>
          <a:bodyPr wrap="square" lIns="0" tIns="0" rIns="0" bIns="0" rtlCol="0" anchor="t">
            <a:normAutofit/>
          </a:bodyPr>
          <a:lstStyle/>
          <a:p>
            <a:pPr algn="l" indent="0" marL="0">
              <a:lnSpc>
                <a:spcPct val="121000"/>
              </a:lnSpc>
              <a:buNone/>
            </a:pPr>
            <a:r>
              <a:rPr lang="en-US" sz="900" dirty="0">
                <a:solidFill>
                  <a:srgbClr val="272525"/>
                </a:solidFill>
                <a:latin typeface="Inter" pitchFamily="34" charset="0"/>
                <a:ea typeface="Inter" pitchFamily="34" charset="-122"/>
                <a:cs typeface="Inter" pitchFamily="34" charset="-120"/>
              </a:rPr>
              <a:t>Safe surplus food donation procedures, partner with local NGOs, and strict hygiene checks.</a:t>
            </a:r>
            <a:endParaRPr lang="en-US" sz="900" dirty="0"/>
          </a:p>
        </p:txBody>
      </p:sp>
      <p:sp>
        <p:nvSpPr>
          <p:cNvPr id="15" name="Shape 13"/>
          <p:cNvSpPr/>
          <p:nvPr/>
        </p:nvSpPr>
        <p:spPr>
          <a:xfrm>
            <a:off x="496119" y="3745483"/>
            <a:ext cx="3935388" cy="884262"/>
          </a:xfrm>
          <a:prstGeom prst="roundRect">
            <a:avLst>
              <a:gd name="adj" fmla="val 5471"/>
            </a:avLst>
          </a:prstGeom>
          <a:solidFill>
            <a:srgbClr val="FDFAF7"/>
          </a:solidFill>
          <a:ln w="14288">
            <a:solidFill>
              <a:srgbClr val="C6BDDA"/>
            </a:solidFill>
            <a:prstDash val="solid"/>
          </a:ln>
        </p:spPr>
      </p:sp>
      <p:sp>
        <p:nvSpPr>
          <p:cNvPr id="16" name="Text 14"/>
          <p:cNvSpPr/>
          <p:nvPr/>
        </p:nvSpPr>
        <p:spPr>
          <a:xfrm>
            <a:off x="625525" y="3874889"/>
            <a:ext cx="3676576" cy="197941"/>
          </a:xfrm>
          <a:prstGeom prst="rect">
            <a:avLst/>
          </a:prstGeom>
          <a:noFill/>
          <a:ln/>
        </p:spPr>
        <p:txBody>
          <a:bodyPr wrap="none" lIns="0" tIns="0" rIns="0" bIns="0" rtlCol="0" anchor="t"/>
          <a:lstStyle/>
          <a:p>
            <a:pPr algn="l" indent="0" marL="0">
              <a:lnSpc>
                <a:spcPct val="104000"/>
              </a:lnSpc>
              <a:buNone/>
            </a:pPr>
            <a:r>
              <a:rPr lang="en-US" sz="1200" b="1" dirty="0">
                <a:solidFill>
                  <a:srgbClr val="272525"/>
                </a:solidFill>
                <a:latin typeface="Petrona Bold" pitchFamily="34" charset="0"/>
                <a:ea typeface="Petrona Bold" pitchFamily="34" charset="-122"/>
                <a:cs typeface="Petrona Bold" pitchFamily="34" charset="-120"/>
              </a:rPr>
              <a:t>Menu Optimization</a:t>
            </a:r>
            <a:endParaRPr lang="en-US" sz="1200" dirty="0"/>
          </a:p>
        </p:txBody>
      </p:sp>
      <p:sp>
        <p:nvSpPr>
          <p:cNvPr id="17" name="Text 15"/>
          <p:cNvSpPr/>
          <p:nvPr/>
        </p:nvSpPr>
        <p:spPr>
          <a:xfrm>
            <a:off x="625525" y="4166369"/>
            <a:ext cx="3676576" cy="333970"/>
          </a:xfrm>
          <a:prstGeom prst="rect">
            <a:avLst/>
          </a:prstGeom>
          <a:noFill/>
          <a:ln/>
        </p:spPr>
        <p:txBody>
          <a:bodyPr wrap="square" lIns="0" tIns="0" rIns="0" bIns="0" rtlCol="0" anchor="t">
            <a:normAutofit/>
          </a:bodyPr>
          <a:lstStyle/>
          <a:p>
            <a:pPr algn="l" indent="0" marL="0">
              <a:lnSpc>
                <a:spcPct val="121000"/>
              </a:lnSpc>
              <a:buNone/>
            </a:pPr>
            <a:r>
              <a:rPr lang="en-US" sz="900" dirty="0">
                <a:solidFill>
                  <a:srgbClr val="272525"/>
                </a:solidFill>
                <a:latin typeface="Inter" pitchFamily="34" charset="0"/>
                <a:ea typeface="Inter" pitchFamily="34" charset="-122"/>
                <a:cs typeface="Inter" pitchFamily="34" charset="-120"/>
              </a:rPr>
              <a:t>Use survey feedback to refine menus, reduce unpopular dishes, and align preparation volumes with demand.</a:t>
            </a:r>
            <a:endParaRPr lang="en-US" sz="900" dirty="0"/>
          </a:p>
        </p:txBody>
      </p:sp>
      <p:pic>
        <p:nvPicPr>
          <p:cNvPr id="18" name="Image 0" descr="preencoded.png">    </p:cNvPr>
          <p:cNvPicPr>
            <a:picLocks noChangeAspect="1"/>
          </p:cNvPicPr>
          <p:nvPr/>
        </p:nvPicPr>
        <p:blipFill>
          <a:blip r:embed="rId1"/>
          <a:stretch>
            <a:fillRect/>
          </a:stretch>
        </p:blipFill>
        <p:spPr>
          <a:xfrm>
            <a:off x="4717256" y="1464915"/>
            <a:ext cx="3935388" cy="221359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96119" y="1706687"/>
            <a:ext cx="3075831" cy="1730127"/>
          </a:xfrm>
          <a:prstGeom prst="rect">
            <a:avLst/>
          </a:prstGeom>
        </p:spPr>
      </p:pic>
      <p:sp>
        <p:nvSpPr>
          <p:cNvPr id="3" name="Text 0"/>
          <p:cNvSpPr/>
          <p:nvPr/>
        </p:nvSpPr>
        <p:spPr>
          <a:xfrm>
            <a:off x="3884786" y="535186"/>
            <a:ext cx="4767783" cy="347216"/>
          </a:xfrm>
          <a:prstGeom prst="rect">
            <a:avLst/>
          </a:prstGeom>
          <a:noFill/>
          <a:ln/>
        </p:spPr>
        <p:txBody>
          <a:bodyPr wrap="none" lIns="0" tIns="0" rIns="0" bIns="0" rtlCol="0" anchor="t"/>
          <a:lstStyle/>
          <a:p>
            <a:pPr algn="l" indent="0" marL="0">
              <a:lnSpc>
                <a:spcPct val="104000"/>
              </a:lnSpc>
              <a:buNone/>
            </a:pPr>
            <a:r>
              <a:rPr lang="en-US" sz="2150" b="1" dirty="0">
                <a:solidFill>
                  <a:srgbClr val="F95F88"/>
                </a:solidFill>
                <a:latin typeface="Petrona Bold" pitchFamily="34" charset="0"/>
                <a:ea typeface="Petrona Bold" pitchFamily="34" charset="-122"/>
                <a:cs typeface="Petrona Bold" pitchFamily="34" charset="-120"/>
              </a:rPr>
              <a:t>Project Timeline &amp; Conclusion</a:t>
            </a:r>
            <a:endParaRPr lang="en-US" sz="2150" dirty="0"/>
          </a:p>
        </p:txBody>
      </p:sp>
      <p:sp>
        <p:nvSpPr>
          <p:cNvPr id="4" name="Text 1"/>
          <p:cNvSpPr/>
          <p:nvPr/>
        </p:nvSpPr>
        <p:spPr>
          <a:xfrm>
            <a:off x="3884786" y="994842"/>
            <a:ext cx="5224983" cy="190946"/>
          </a:xfrm>
          <a:prstGeom prst="rect">
            <a:avLst/>
          </a:prstGeom>
          <a:noFill/>
          <a:ln/>
        </p:spPr>
        <p:txBody>
          <a:bodyPr wrap="none" lIns="0" tIns="0" rIns="0" bIns="0" rtlCol="0" anchor="t"/>
          <a:lstStyle/>
          <a:p>
            <a:pPr algn="l" indent="0" marL="0">
              <a:lnSpc>
                <a:spcPct val="126000"/>
              </a:lnSpc>
              <a:buNone/>
            </a:pPr>
            <a:r>
              <a:rPr lang="en-US" sz="950" dirty="0">
                <a:solidFill>
                  <a:srgbClr val="272525"/>
                </a:solidFill>
                <a:latin typeface="Inter" pitchFamily="34" charset="0"/>
                <a:ea typeface="Inter" pitchFamily="34" charset="-122"/>
                <a:cs typeface="Inter" pitchFamily="34" charset="-120"/>
              </a:rPr>
              <a:t>Timeline (16 weeks):</a:t>
            </a:r>
            <a:endParaRPr lang="en-US" sz="950" dirty="0"/>
          </a:p>
        </p:txBody>
      </p:sp>
      <p:sp>
        <p:nvSpPr>
          <p:cNvPr id="5" name="Text 2"/>
          <p:cNvSpPr/>
          <p:nvPr/>
        </p:nvSpPr>
        <p:spPr>
          <a:xfrm>
            <a:off x="3884786" y="1286991"/>
            <a:ext cx="4767783" cy="881658"/>
          </a:xfrm>
          <a:prstGeom prst="rect">
            <a:avLst/>
          </a:prstGeom>
          <a:noFill/>
          <a:ln/>
        </p:spPr>
        <p:txBody>
          <a:bodyPr wrap="square" lIns="0" tIns="0" rIns="0" bIns="0" rtlCol="0" anchor="t">
            <a:normAutofit/>
          </a:bodyPr>
          <a:lstStyle/>
          <a:p>
            <a:pPr algn="l" marL="193040" indent="-193040">
              <a:lnSpc>
                <a:spcPct val="126000"/>
              </a:lnSpc>
              <a:buSzPct val="100000"/>
              <a:buChar char="•"/>
            </a:pPr>
            <a:r>
              <a:rPr lang="en-US" sz="950" dirty="0">
                <a:solidFill>
                  <a:srgbClr val="272525"/>
                </a:solidFill>
                <a:latin typeface="Inter" pitchFamily="34" charset="0"/>
                <a:ea typeface="Inter" pitchFamily="34" charset="-122"/>
                <a:cs typeface="Inter" pitchFamily="34" charset="-120"/>
              </a:rPr>
              <a:t>Week 1 -4— Topic selection, literature review, and planning</a:t>
            </a:r>
            <a:endParaRPr lang="en-US" sz="950" dirty="0"/>
          </a:p>
          <a:p>
            <a:pPr algn="l" marL="193040" indent="-193040">
              <a:lnSpc>
                <a:spcPct val="126000"/>
              </a:lnSpc>
              <a:buSzPct val="100000"/>
              <a:buChar char="•"/>
            </a:pPr>
            <a:r>
              <a:rPr lang="en-US" sz="950" dirty="0">
                <a:solidFill>
                  <a:srgbClr val="272525"/>
                </a:solidFill>
                <a:latin typeface="Inter" pitchFamily="34" charset="0"/>
                <a:ea typeface="Inter" pitchFamily="34" charset="-122"/>
                <a:cs typeface="Inter" pitchFamily="34" charset="-120"/>
              </a:rPr>
              <a:t>Week 5-8 — Questionnaire creation, site permissions, first site visit</a:t>
            </a:r>
            <a:endParaRPr lang="en-US" sz="950" dirty="0"/>
          </a:p>
          <a:p>
            <a:pPr algn="l" marL="193040" indent="-193040">
              <a:lnSpc>
                <a:spcPct val="126000"/>
              </a:lnSpc>
              <a:buSzPct val="100000"/>
              <a:buChar char="•"/>
            </a:pPr>
            <a:r>
              <a:rPr lang="en-US" sz="950" dirty="0">
                <a:solidFill>
                  <a:srgbClr val="272525"/>
                </a:solidFill>
                <a:latin typeface="Inter" pitchFamily="34" charset="0"/>
                <a:ea typeface="Inter" pitchFamily="34" charset="-122"/>
                <a:cs typeface="Inter" pitchFamily="34" charset="-120"/>
              </a:rPr>
              <a:t>Week 9-12 — Surveys, staff interviews, and data analysis</a:t>
            </a:r>
            <a:endParaRPr lang="en-US" sz="950" dirty="0"/>
          </a:p>
          <a:p>
            <a:pPr algn="l" marL="193040" indent="-193040">
              <a:lnSpc>
                <a:spcPct val="126000"/>
              </a:lnSpc>
              <a:buSzPct val="100000"/>
              <a:buChar char="•"/>
            </a:pPr>
            <a:r>
              <a:rPr lang="en-US" sz="950" dirty="0">
                <a:solidFill>
                  <a:srgbClr val="272525"/>
                </a:solidFill>
                <a:latin typeface="Inter" pitchFamily="34" charset="0"/>
                <a:ea typeface="Inter" pitchFamily="34" charset="-122"/>
                <a:cs typeface="Inter" pitchFamily="34" charset="-120"/>
              </a:rPr>
              <a:t>Week 12-16 — Compile report, recommendations, and final presentation</a:t>
            </a:r>
            <a:endParaRPr lang="en-US" sz="950" dirty="0"/>
          </a:p>
        </p:txBody>
      </p:sp>
      <p:sp>
        <p:nvSpPr>
          <p:cNvPr id="6" name="Text 3"/>
          <p:cNvSpPr/>
          <p:nvPr/>
        </p:nvSpPr>
        <p:spPr>
          <a:xfrm>
            <a:off x="3884786" y="2269852"/>
            <a:ext cx="4767783" cy="763786"/>
          </a:xfrm>
          <a:prstGeom prst="rect">
            <a:avLst/>
          </a:prstGeom>
          <a:noFill/>
          <a:ln/>
        </p:spPr>
        <p:txBody>
          <a:bodyPr wrap="square" lIns="0" tIns="0" rIns="0" bIns="0" rtlCol="0" anchor="t">
            <a:normAutofit/>
          </a:bodyPr>
          <a:lstStyle/>
          <a:p>
            <a:pPr algn="l" indent="0" marL="0">
              <a:lnSpc>
                <a:spcPct val="126000"/>
              </a:lnSpc>
              <a:buNone/>
            </a:pPr>
            <a:r>
              <a:rPr lang="en-US" sz="950" dirty="0">
                <a:solidFill>
                  <a:srgbClr val="272525"/>
                </a:solidFill>
                <a:latin typeface="Inter" pitchFamily="34" charset="0"/>
                <a:ea typeface="Inter" pitchFamily="34" charset="-122"/>
                <a:cs typeface="Inter" pitchFamily="34" charset="-120"/>
              </a:rPr>
              <a:t>Conclusion: Small operational changes, combined with student engagement and improved hygiene, can significantly reduce food waste in hostel messes. Every saved portion improves nutrition, lowers costs, and reduces environmental impact.</a:t>
            </a:r>
            <a:endParaRPr lang="en-US" sz="950" dirty="0"/>
          </a:p>
        </p:txBody>
      </p:sp>
      <p:sp>
        <p:nvSpPr>
          <p:cNvPr id="7" name="Text 4"/>
          <p:cNvSpPr/>
          <p:nvPr/>
        </p:nvSpPr>
        <p:spPr>
          <a:xfrm>
            <a:off x="4074170" y="3261345"/>
            <a:ext cx="4578400" cy="381893"/>
          </a:xfrm>
          <a:prstGeom prst="rect">
            <a:avLst/>
          </a:prstGeom>
          <a:noFill/>
          <a:ln/>
        </p:spPr>
        <p:txBody>
          <a:bodyPr wrap="square" lIns="0" tIns="0" rIns="0" bIns="0" rtlCol="0" anchor="t">
            <a:normAutofit/>
          </a:bodyPr>
          <a:lstStyle/>
          <a:p>
            <a:pPr algn="l" indent="0" marL="0">
              <a:lnSpc>
                <a:spcPct val="126000"/>
              </a:lnSpc>
              <a:buNone/>
            </a:pPr>
            <a:r>
              <a:rPr lang="en-US" sz="950" dirty="0">
                <a:solidFill>
                  <a:srgbClr val="272525"/>
                </a:solidFill>
                <a:latin typeface="Inter" pitchFamily="34" charset="0"/>
                <a:ea typeface="Inter" pitchFamily="34" charset="-122"/>
                <a:cs typeface="Inter" pitchFamily="34" charset="-120"/>
              </a:rPr>
              <a:t>         "Every grain saved is a step toward a healthier community and a sustainable future."       </a:t>
            </a:r>
            <a:endParaRPr lang="en-US" sz="950" dirty="0"/>
          </a:p>
        </p:txBody>
      </p:sp>
      <p:sp>
        <p:nvSpPr>
          <p:cNvPr id="8" name="Shape 5"/>
          <p:cNvSpPr/>
          <p:nvPr/>
        </p:nvSpPr>
        <p:spPr>
          <a:xfrm>
            <a:off x="3884786" y="3160142"/>
            <a:ext cx="14288" cy="584299"/>
          </a:xfrm>
          <a:prstGeom prst="roundRect">
            <a:avLst>
              <a:gd name="adj" fmla="val 49998"/>
            </a:avLst>
          </a:prstGeom>
          <a:solidFill>
            <a:srgbClr val="6237C8"/>
          </a:solidFill>
          <a:ln/>
        </p:spPr>
      </p:sp>
      <p:sp>
        <p:nvSpPr>
          <p:cNvPr id="9" name="Text 6"/>
          <p:cNvSpPr/>
          <p:nvPr/>
        </p:nvSpPr>
        <p:spPr>
          <a:xfrm>
            <a:off x="3884786" y="3870945"/>
            <a:ext cx="5224983" cy="190946"/>
          </a:xfrm>
          <a:prstGeom prst="rect">
            <a:avLst/>
          </a:prstGeom>
          <a:noFill/>
          <a:ln/>
        </p:spPr>
        <p:txBody>
          <a:bodyPr wrap="none" lIns="0" tIns="0" rIns="0" bIns="0" rtlCol="0" anchor="t"/>
          <a:lstStyle/>
          <a:p>
            <a:pPr algn="l" indent="0" marL="0">
              <a:lnSpc>
                <a:spcPct val="126000"/>
              </a:lnSpc>
              <a:buNone/>
            </a:pPr>
            <a:endParaRPr lang="en-US" sz="950" dirty="0"/>
          </a:p>
        </p:txBody>
      </p:sp>
      <p:sp>
        <p:nvSpPr>
          <p:cNvPr id="10" name="Text 7"/>
          <p:cNvSpPr/>
          <p:nvPr/>
        </p:nvSpPr>
        <p:spPr>
          <a:xfrm>
            <a:off x="3884786" y="4174331"/>
            <a:ext cx="4767783" cy="433983"/>
          </a:xfrm>
          <a:prstGeom prst="rect">
            <a:avLst/>
          </a:prstGeom>
          <a:noFill/>
          <a:ln/>
        </p:spPr>
        <p:txBody>
          <a:bodyPr wrap="none" lIns="0" tIns="0" rIns="0" bIns="0" rtlCol="0" anchor="t"/>
          <a:lstStyle/>
          <a:p>
            <a:pPr algn="ctr" indent="0" marL="0">
              <a:lnSpc>
                <a:spcPct val="104000"/>
              </a:lnSpc>
              <a:buNone/>
            </a:pPr>
            <a:r>
              <a:rPr lang="en-US" sz="2700" b="1" dirty="0">
                <a:solidFill>
                  <a:srgbClr val="F95F88"/>
                </a:solidFill>
                <a:latin typeface="Petrona Bold" pitchFamily="34" charset="0"/>
                <a:ea typeface="Petrona Bold" pitchFamily="34" charset="-122"/>
                <a:cs typeface="Petrona Bold" pitchFamily="34" charset="-120"/>
              </a:rPr>
              <a:t>THANK-YOU</a:t>
            </a:r>
            <a:endParaRPr lang="en-US" sz="2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2026-07-31T07:43:06Z</dcterms:created>
  <dcterms:modified xsi:type="dcterms:W3CDTF">2026-07-31T07:43:06Z</dcterms:modified>
</cp:coreProperties>
</file>